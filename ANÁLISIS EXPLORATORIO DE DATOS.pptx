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8288000" cy="10287000"/>
  <p:notesSz cx="6858000" cy="9144000"/>
  <p:embeddedFontLst>
    <p:embeddedFont>
      <p:font typeface="Aileron" charset="1" panose="00000500000000000000"/>
      <p:regular r:id="rId20"/>
    </p:embeddedFont>
    <p:embeddedFont>
      <p:font typeface="Aileron Bold" charset="1" panose="00000800000000000000"/>
      <p:regular r:id="rId21"/>
    </p:embeddedFont>
    <p:embeddedFont>
      <p:font typeface="Aileron Heavy" charset="1" panose="00000A00000000000000"/>
      <p:regular r:id="rId22"/>
    </p:embeddedFont>
    <p:embeddedFont>
      <p:font typeface="Aileron Ultra-Bold" charset="1" panose="00000A00000000000000"/>
      <p:regular r:id="rId23"/>
    </p:embeddedFont>
    <p:embeddedFont>
      <p:font typeface="TT Hoves Bold" charset="1" panose="02000003020000060003"/>
      <p:regular r:id="rId24"/>
    </p:embeddedFont>
    <p:embeddedFont>
      <p:font typeface="TT Hoves" charset="1" panose="02000003020000060003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png" Type="http://schemas.openxmlformats.org/officeDocument/2006/relationships/image"/><Relationship Id="rId4" Target="../media/image8.png" Type="http://schemas.openxmlformats.org/officeDocument/2006/relationships/image"/><Relationship Id="rId5" Target="../media/image9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Relationship Id="rId3" Target="../media/image7.png" Type="http://schemas.openxmlformats.org/officeDocument/2006/relationships/image"/><Relationship Id="rId4" Target="../media/image11.png" Type="http://schemas.openxmlformats.org/officeDocument/2006/relationships/image"/><Relationship Id="rId5" Target="../media/image12.svg" Type="http://schemas.openxmlformats.org/officeDocument/2006/relationships/image"/><Relationship Id="rId6" Target="../media/image13.png" Type="http://schemas.openxmlformats.org/officeDocument/2006/relationships/image"/><Relationship Id="rId7" Target="../media/image14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Relationship Id="rId3" Target="../media/image7.png" Type="http://schemas.openxmlformats.org/officeDocument/2006/relationships/image"/><Relationship Id="rId4" Target="../media/image8.png" Type="http://schemas.openxmlformats.org/officeDocument/2006/relationships/image"/><Relationship Id="rId5" Target="../media/image9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Relationship Id="rId3" Target="../media/image7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Relationship Id="rId3" Target="../media/image7.png" Type="http://schemas.openxmlformats.org/officeDocument/2006/relationships/image"/><Relationship Id="rId4" Target="../media/image8.png" Type="http://schemas.openxmlformats.org/officeDocument/2006/relationships/image"/><Relationship Id="rId5" Target="../media/image9.sv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7.png" Type="http://schemas.openxmlformats.org/officeDocument/2006/relationships/image"/><Relationship Id="rId4" Target="../media/image8.png" Type="http://schemas.openxmlformats.org/officeDocument/2006/relationships/image"/><Relationship Id="rId5" Target="../media/image9.sv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-5719738"/>
            <a:ext cx="18288000" cy="18288000"/>
          </a:xfrm>
          <a:custGeom>
            <a:avLst/>
            <a:gdLst/>
            <a:ahLst/>
            <a:cxnLst/>
            <a:rect r="r" b="b" t="t" l="l"/>
            <a:pathLst>
              <a:path h="18288000" w="18288000">
                <a:moveTo>
                  <a:pt x="0" y="0"/>
                </a:moveTo>
                <a:lnTo>
                  <a:pt x="18288000" y="0"/>
                </a:lnTo>
                <a:lnTo>
                  <a:pt x="18288000" y="18288000"/>
                </a:lnTo>
                <a:lnTo>
                  <a:pt x="0" y="18288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28700" y="7830574"/>
            <a:ext cx="16230600" cy="1427726"/>
            <a:chOff x="0" y="0"/>
            <a:chExt cx="4274726" cy="376027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274726" cy="376027"/>
            </a:xfrm>
            <a:custGeom>
              <a:avLst/>
              <a:gdLst/>
              <a:ahLst/>
              <a:cxnLst/>
              <a:rect r="r" b="b" t="t" l="l"/>
              <a:pathLst>
                <a:path h="376027" w="4274726">
                  <a:moveTo>
                    <a:pt x="0" y="0"/>
                  </a:moveTo>
                  <a:lnTo>
                    <a:pt x="4274726" y="0"/>
                  </a:lnTo>
                  <a:lnTo>
                    <a:pt x="4274726" y="376027"/>
                  </a:lnTo>
                  <a:lnTo>
                    <a:pt x="0" y="376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4274726" cy="43317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3639"/>
                </a:lnSpc>
              </a:pPr>
              <a:r>
                <a:rPr lang="en-US" sz="2599">
                  <a:solidFill>
                    <a:srgbClr val="FFFFFF"/>
                  </a:solidFill>
                  <a:latin typeface="Aileron"/>
                  <a:ea typeface="Aileron"/>
                  <a:cs typeface="Aileron"/>
                  <a:sym typeface="Aileron"/>
                </a:rPr>
                <a:t>Jose Manuel Morales                           Arrate</a:t>
              </a: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028700" y="5734458"/>
            <a:ext cx="9805012" cy="6446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185"/>
              </a:lnSpc>
            </a:pPr>
            <a:r>
              <a:rPr lang="en-US" b="true" sz="3988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ANÁLISIS EXPLORATORIO DE DATOS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844004"/>
            <a:ext cx="11060627" cy="46148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77"/>
              </a:lnSpc>
            </a:pPr>
            <a:r>
              <a:rPr lang="en-US" sz="10594" spc="105" b="true">
                <a:solidFill>
                  <a:srgbClr val="FFFFFF"/>
                </a:solidFill>
                <a:latin typeface="Aileron Heavy"/>
                <a:ea typeface="Aileron Heavy"/>
                <a:cs typeface="Aileron Heavy"/>
                <a:sym typeface="Aileron Heavy"/>
              </a:rPr>
              <a:t>Ingresos en el censo adulto de EE.UU.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1353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513283" y="2600325"/>
          <a:ext cx="13261435" cy="6118199"/>
        </p:xfrm>
        <a:graphic>
          <a:graphicData uri="http://schemas.openxmlformats.org/drawingml/2006/table">
            <a:tbl>
              <a:tblPr/>
              <a:tblGrid>
                <a:gridCol w="4420478"/>
                <a:gridCol w="4420478"/>
                <a:gridCol w="4420478"/>
              </a:tblGrid>
              <a:tr h="374634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b="true" sz="3999" spc="119">
                          <a:solidFill>
                            <a:srgbClr val="2C92D5"/>
                          </a:solidFill>
                          <a:latin typeface="Aileron Bold"/>
                          <a:ea typeface="Aileron Bold"/>
                          <a:cs typeface="Aileron Bold"/>
                          <a:sym typeface="Aileron Bold"/>
                        </a:rPr>
                        <a:t>ANALIZAR</a:t>
                      </a:r>
                      <a:endParaRPr lang="en-US" sz="1100"/>
                    </a:p>
                  </a:txBody>
                  <a:tcPr marL="190500" marR="190500" marT="190500" marB="190500" anchor="b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0">
                      <a:solidFill>
                        <a:srgbClr val="135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b="true" sz="3999" spc="119">
                          <a:solidFill>
                            <a:srgbClr val="37C9EF"/>
                          </a:solidFill>
                          <a:latin typeface="Aileron Bold"/>
                          <a:ea typeface="Aileron Bold"/>
                          <a:cs typeface="Aileron Bold"/>
                          <a:sym typeface="Aileron Bold"/>
                        </a:rPr>
                        <a:t>COMPARAR</a:t>
                      </a:r>
                      <a:endParaRPr lang="en-US" sz="1100"/>
                    </a:p>
                  </a:txBody>
                  <a:tcPr marL="190500" marR="190500" marT="190500" marB="190500" anchor="b">
                    <a:lnL cmpd="sng" algn="ctr" cap="flat" w="95250">
                      <a:solidFill>
                        <a:srgbClr val="135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0">
                      <a:solidFill>
                        <a:srgbClr val="135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5599"/>
                        </a:lnSpc>
                        <a:defRPr/>
                      </a:pPr>
                      <a:r>
                        <a:rPr lang="en-US" b="true" sz="3999" spc="119">
                          <a:solidFill>
                            <a:srgbClr val="2C92D5"/>
                          </a:solidFill>
                          <a:latin typeface="Aileron Bold"/>
                          <a:ea typeface="Aileron Bold"/>
                          <a:cs typeface="Aileron Bold"/>
                          <a:sym typeface="Aileron Bold"/>
                        </a:rPr>
                        <a:t>EXPLORAR</a:t>
                      </a:r>
                      <a:endParaRPr lang="en-US" sz="1100"/>
                    </a:p>
                  </a:txBody>
                  <a:tcPr marL="190500" marR="190500" marT="190500" marB="190500" anchor="b">
                    <a:lnL cmpd="sng" algn="ctr" cap="flat" w="95250">
                      <a:solidFill>
                        <a:srgbClr val="135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0">
                      <a:solidFill>
                        <a:srgbClr val="135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135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135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1852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199"/>
                        </a:lnSpc>
                        <a:defRPr/>
                      </a:pPr>
                      <a:r>
                        <a:rPr lang="en-US" sz="2999" spc="44">
                          <a:solidFill>
                            <a:srgbClr val="191919"/>
                          </a:solidFill>
                          <a:latin typeface="Aileron"/>
                          <a:ea typeface="Aileron"/>
                          <a:cs typeface="Aileron"/>
                          <a:sym typeface="Aileron"/>
                        </a:rPr>
                        <a:t>Analizar factores asociados al nivel de ingresos</a:t>
                      </a:r>
                      <a:endParaRPr lang="en-US" sz="1100"/>
                    </a:p>
                  </a:txBody>
                  <a:tcPr marL="190500" marR="190500" marT="190500" marB="190500" anchor="t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0">
                      <a:solidFill>
                        <a:srgbClr val="135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 spc="44">
                          <a:solidFill>
                            <a:srgbClr val="191919"/>
                          </a:solidFill>
                          <a:latin typeface="Aileron"/>
                          <a:ea typeface="Aileron"/>
                          <a:cs typeface="Aileron"/>
                          <a:sym typeface="Aileron"/>
                        </a:rPr>
                        <a:t>Comparar ingresos ≤ 50K vs &gt; 50K</a:t>
                      </a:r>
                      <a:endParaRPr lang="en-US" sz="1100"/>
                    </a:p>
                    <a:p>
                      <a:pPr algn="ctr">
                        <a:lnSpc>
                          <a:spcPts val="4200"/>
                        </a:lnSpc>
                      </a:pPr>
                    </a:p>
                  </a:txBody>
                  <a:tcPr marL="190500" marR="190500" marT="190500" marB="190500" anchor="t">
                    <a:lnL cmpd="sng" algn="ctr" cap="flat" w="95250">
                      <a:solidFill>
                        <a:srgbClr val="135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0">
                      <a:solidFill>
                        <a:srgbClr val="135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 spc="44">
                          <a:solidFill>
                            <a:srgbClr val="191919"/>
                          </a:solidFill>
                          <a:latin typeface="Aileron"/>
                          <a:ea typeface="Aileron"/>
                          <a:cs typeface="Aileron"/>
                          <a:sym typeface="Aileron"/>
                        </a:rPr>
                        <a:t>Explorar patrones socioeconómicos</a:t>
                      </a:r>
                      <a:endParaRPr lang="en-US" sz="1100"/>
                    </a:p>
                  </a:txBody>
                  <a:tcPr marL="190500" marR="190500" marT="190500" marB="190500" anchor="t">
                    <a:lnL cmpd="sng" algn="ctr" cap="flat" w="95250">
                      <a:solidFill>
                        <a:srgbClr val="135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0">
                      <a:solidFill>
                        <a:srgbClr val="135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135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13538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name="Group 3" id="3"/>
          <p:cNvGrpSpPr/>
          <p:nvPr/>
        </p:nvGrpSpPr>
        <p:grpSpPr>
          <a:xfrm rot="0">
            <a:off x="7277539" y="1028700"/>
            <a:ext cx="3143250" cy="3143250"/>
            <a:chOff x="0" y="0"/>
            <a:chExt cx="812800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95250" cap="sq">
              <a:solidFill>
                <a:srgbClr val="37C9EF"/>
              </a:solidFill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76200" y="247650"/>
              <a:ext cx="660400" cy="4889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8799"/>
                </a:lnSpc>
              </a:pPr>
              <a:r>
                <a:rPr lang="en-US" b="true" sz="8799">
                  <a:solidFill>
                    <a:srgbClr val="37C9EF"/>
                  </a:solidFill>
                  <a:latin typeface="Aileron Ultra-Bold"/>
                  <a:ea typeface="Aileron Ultra-Bold"/>
                  <a:cs typeface="Aileron Ultra-Bold"/>
                  <a:sym typeface="Aileron Ultra-Bold"/>
                </a:rPr>
                <a:t>2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2989972" y="1028700"/>
            <a:ext cx="3143250" cy="3143250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95250" cap="sq">
              <a:solidFill>
                <a:srgbClr val="2C92D5"/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76200" y="247650"/>
              <a:ext cx="660400" cy="4889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8799"/>
                </a:lnSpc>
              </a:pPr>
              <a:r>
                <a:rPr lang="en-US" b="true" sz="8799">
                  <a:solidFill>
                    <a:srgbClr val="2C92D5"/>
                  </a:solidFill>
                  <a:latin typeface="Aileron Ultra-Bold"/>
                  <a:ea typeface="Aileron Ultra-Bold"/>
                  <a:cs typeface="Aileron Ultra-Bold"/>
                  <a:sym typeface="Aileron Ultra-Bold"/>
                </a:rPr>
                <a:t>1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1564228" y="1028700"/>
            <a:ext cx="3143250" cy="3143250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95250" cap="sq">
              <a:solidFill>
                <a:srgbClr val="2C92D5"/>
              </a:solidFill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76200" y="247650"/>
              <a:ext cx="660400" cy="4889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8799"/>
                </a:lnSpc>
              </a:pPr>
              <a:r>
                <a:rPr lang="en-US" b="true" sz="8799">
                  <a:solidFill>
                    <a:srgbClr val="2C92D5"/>
                  </a:solidFill>
                  <a:latin typeface="Aileron Ultra-Bold"/>
                  <a:ea typeface="Aileron Ultra-Bold"/>
                  <a:cs typeface="Aileron Ultra-Bold"/>
                  <a:sym typeface="Aileron Ultra-Bold"/>
                </a:rPr>
                <a:t>3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0" y="-23536"/>
          <a:ext cx="18288000" cy="10310536"/>
        </p:xfrm>
        <a:graphic>
          <a:graphicData uri="http://schemas.openxmlformats.org/drawingml/2006/table">
            <a:tbl>
              <a:tblPr/>
              <a:tblGrid>
                <a:gridCol w="3048000"/>
                <a:gridCol w="3048000"/>
                <a:gridCol w="3053299"/>
                <a:gridCol w="3042701"/>
                <a:gridCol w="3048000"/>
                <a:gridCol w="3048000"/>
              </a:tblGrid>
              <a:tr h="1031053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00"/>
                        </a:lnSpc>
                        <a:defRPr/>
                      </a:pPr>
                      <a:endParaRPr lang="en-US" sz="1100"/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3600"/>
                        </a:lnSpc>
                      </a:pPr>
                      <a:r>
                        <a:rPr lang="en-US" sz="2400" b="true">
                          <a:solidFill>
                            <a:srgbClr val="191919"/>
                          </a:solidFill>
                          <a:latin typeface="Aileron Bold"/>
                          <a:ea typeface="Aileron Bold"/>
                          <a:cs typeface="Aileron Bold"/>
                          <a:sym typeface="Aileron Bold"/>
                        </a:rPr>
                        <a:t>Adult Census Income (EE.UU)</a:t>
                      </a:r>
                    </a:p>
                  </a:txBody>
                  <a:tcPr marL="190500" marR="190500" marT="190500" marB="190500" anchor="t">
                    <a:lnL cmpd="sng" algn="ctr" cap="flat" w="0">
                      <a:solidFill>
                        <a:srgbClr val="F4F4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F4F4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F4F4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F4F4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00"/>
                        </a:lnSpc>
                        <a:defRPr/>
                      </a:pPr>
                      <a:endParaRPr lang="en-US" sz="1100"/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3600"/>
                        </a:lnSpc>
                      </a:pPr>
                      <a:r>
                        <a:rPr lang="en-US" b="true" sz="2400" spc="36">
                          <a:solidFill>
                            <a:srgbClr val="191919"/>
                          </a:solidFill>
                          <a:latin typeface="Aileron Bold"/>
                          <a:ea typeface="Aileron Bold"/>
                          <a:cs typeface="Aileron Bold"/>
                          <a:sym typeface="Aileron Bold"/>
                        </a:rPr>
                        <a:t>Datos de población adulta</a:t>
                      </a: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</a:txBody>
                  <a:tcPr marL="190500" marR="190500" marT="190500" marB="190500" anchor="t">
                    <a:lnL cmpd="sng" algn="ctr" cap="flat" w="0">
                      <a:solidFill>
                        <a:srgbClr val="F4F4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F4F4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F4F4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F4F4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00"/>
                        </a:lnSpc>
                        <a:defRPr/>
                      </a:pPr>
                      <a:endParaRPr lang="en-US" sz="1100"/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3600"/>
                        </a:lnSpc>
                      </a:pPr>
                      <a:r>
                        <a:rPr lang="en-US" b="true" sz="2400" spc="36">
                          <a:solidFill>
                            <a:srgbClr val="191919"/>
                          </a:solidFill>
                          <a:latin typeface="Aileron Bold"/>
                          <a:ea typeface="Aileron Bold"/>
                          <a:cs typeface="Aileron Bold"/>
                          <a:sym typeface="Aileron Bold"/>
                        </a:rPr>
                        <a:t>Observaciones independientes</a:t>
                      </a: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</a:txBody>
                  <a:tcPr marL="190500" marR="190500" marT="190500" marB="190500" anchor="t">
                    <a:lnL cmpd="sng" algn="ctr" cap="flat" w="0">
                      <a:solidFill>
                        <a:srgbClr val="F4F4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F4F4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F4F4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F4F4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00"/>
                        </a:lnSpc>
                        <a:defRPr/>
                      </a:pPr>
                      <a:endParaRPr lang="en-US" sz="1100"/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3600"/>
                        </a:lnSpc>
                      </a:pPr>
                      <a:r>
                        <a:rPr lang="en-US" b="true" sz="2400" spc="36">
                          <a:solidFill>
                            <a:srgbClr val="191919"/>
                          </a:solidFill>
                          <a:latin typeface="Aileron Bold"/>
                          <a:ea typeface="Aileron Bold"/>
                          <a:cs typeface="Aileron Bold"/>
                          <a:sym typeface="Aileron Bold"/>
                        </a:rPr>
                        <a:t>Información </a:t>
                      </a:r>
                    </a:p>
                    <a:p>
                      <a:pPr algn="ctr">
                        <a:lnSpc>
                          <a:spcPts val="3600"/>
                        </a:lnSpc>
                      </a:pPr>
                      <a:r>
                        <a:rPr lang="en-US" b="true" sz="2400" spc="36">
                          <a:solidFill>
                            <a:srgbClr val="191919"/>
                          </a:solidFill>
                          <a:latin typeface="Aileron Bold"/>
                          <a:ea typeface="Aileron Bold"/>
                          <a:cs typeface="Aileron Bold"/>
                          <a:sym typeface="Aileron Bold"/>
                        </a:rPr>
                        <a:t>demográfica</a:t>
                      </a:r>
                    </a:p>
                  </a:txBody>
                  <a:tcPr marL="190500" marR="190500" marT="190500" marB="190500" anchor="t">
                    <a:lnL cmpd="sng" algn="ctr" cap="flat" w="0">
                      <a:solidFill>
                        <a:srgbClr val="F4F4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F4F4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F4F4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F4F4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00"/>
                        </a:lnSpc>
                        <a:defRPr/>
                      </a:pPr>
                      <a:endParaRPr lang="en-US" sz="1100"/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3599"/>
                        </a:lnSpc>
                      </a:pPr>
                      <a:r>
                        <a:rPr lang="en-US" b="true" sz="2399" spc="35">
                          <a:solidFill>
                            <a:srgbClr val="191919"/>
                          </a:solidFill>
                          <a:latin typeface="Aileron Bold"/>
                          <a:ea typeface="Aileron Bold"/>
                          <a:cs typeface="Aileron Bold"/>
                          <a:sym typeface="Aileron Bold"/>
                        </a:rPr>
                        <a:t>Información</a:t>
                      </a:r>
                    </a:p>
                    <a:p>
                      <a:pPr algn="ctr">
                        <a:lnSpc>
                          <a:spcPts val="3599"/>
                        </a:lnSpc>
                      </a:pPr>
                      <a:r>
                        <a:rPr lang="en-US" b="true" sz="2399" spc="35">
                          <a:solidFill>
                            <a:srgbClr val="191919"/>
                          </a:solidFill>
                          <a:latin typeface="Aileron Bold"/>
                          <a:ea typeface="Aileron Bold"/>
                          <a:cs typeface="Aileron Bold"/>
                          <a:sym typeface="Aileron Bold"/>
                        </a:rPr>
                        <a:t>educativa</a:t>
                      </a: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</a:txBody>
                  <a:tcPr marL="190500" marR="190500" marT="190500" marB="190500" anchor="t">
                    <a:lnL cmpd="sng" algn="ctr" cap="flat" w="0">
                      <a:solidFill>
                        <a:srgbClr val="F4F4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F4F4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F4F4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F4F4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2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700"/>
                        </a:lnSpc>
                        <a:defRPr/>
                      </a:pPr>
                      <a:endParaRPr lang="en-US" sz="1100"/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  <a:p>
                      <a:pPr algn="ctr">
                        <a:lnSpc>
                          <a:spcPts val="3599"/>
                        </a:lnSpc>
                      </a:pPr>
                      <a:r>
                        <a:rPr lang="en-US" b="true" sz="2399" spc="35">
                          <a:solidFill>
                            <a:srgbClr val="191919"/>
                          </a:solidFill>
                          <a:latin typeface="Aileron Bold"/>
                          <a:ea typeface="Aileron Bold"/>
                          <a:cs typeface="Aileron Bold"/>
                          <a:sym typeface="Aileron Bold"/>
                        </a:rPr>
                        <a:t>Información </a:t>
                      </a:r>
                    </a:p>
                    <a:p>
                      <a:pPr algn="ctr">
                        <a:lnSpc>
                          <a:spcPts val="3599"/>
                        </a:lnSpc>
                      </a:pPr>
                      <a:r>
                        <a:rPr lang="en-US" b="true" sz="2399" spc="35">
                          <a:solidFill>
                            <a:srgbClr val="191919"/>
                          </a:solidFill>
                          <a:latin typeface="Aileron Bold"/>
                          <a:ea typeface="Aileron Bold"/>
                          <a:cs typeface="Aileron Bold"/>
                          <a:sym typeface="Aileron Bold"/>
                        </a:rPr>
                        <a:t>laboral y económica</a:t>
                      </a:r>
                    </a:p>
                    <a:p>
                      <a:pPr algn="ctr">
                        <a:lnSpc>
                          <a:spcPts val="2700"/>
                        </a:lnSpc>
                      </a:pPr>
                    </a:p>
                  </a:txBody>
                  <a:tcPr marL="190500" marR="190500" marT="190500" marB="190500" anchor="t">
                    <a:lnL cmpd="sng" algn="ctr" cap="flat" w="0">
                      <a:solidFill>
                        <a:srgbClr val="F4F4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F4F4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F4F4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F4F4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2"/>
                    </a:solidFill>
                  </a:tcPr>
                </a:tc>
              </a:tr>
            </a:tbl>
          </a:graphicData>
        </a:graphic>
      </p:graphicFrame>
      <p:grpSp>
        <p:nvGrpSpPr>
          <p:cNvPr name="Group 3" id="3"/>
          <p:cNvGrpSpPr/>
          <p:nvPr/>
        </p:nvGrpSpPr>
        <p:grpSpPr>
          <a:xfrm rot="-829633">
            <a:off x="101452" y="8486967"/>
            <a:ext cx="20724935" cy="5634207"/>
            <a:chOff x="0" y="0"/>
            <a:chExt cx="5458419" cy="148390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458419" cy="1483907"/>
            </a:xfrm>
            <a:custGeom>
              <a:avLst/>
              <a:gdLst/>
              <a:ahLst/>
              <a:cxnLst/>
              <a:rect r="r" b="b" t="t" l="l"/>
              <a:pathLst>
                <a:path h="1483907" w="5458419">
                  <a:moveTo>
                    <a:pt x="0" y="0"/>
                  </a:moveTo>
                  <a:lnTo>
                    <a:pt x="5458419" y="0"/>
                  </a:lnTo>
                  <a:lnTo>
                    <a:pt x="5458419" y="1483907"/>
                  </a:lnTo>
                  <a:lnTo>
                    <a:pt x="0" y="148390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5458419" cy="152200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-829633">
            <a:off x="-2015856" y="-2222871"/>
            <a:ext cx="20724935" cy="5634207"/>
            <a:chOff x="0" y="0"/>
            <a:chExt cx="5458419" cy="148390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458419" cy="1483907"/>
            </a:xfrm>
            <a:custGeom>
              <a:avLst/>
              <a:gdLst/>
              <a:ahLst/>
              <a:cxnLst/>
              <a:rect r="r" b="b" t="t" l="l"/>
              <a:pathLst>
                <a:path h="1483907" w="5458419">
                  <a:moveTo>
                    <a:pt x="0" y="0"/>
                  </a:moveTo>
                  <a:lnTo>
                    <a:pt x="5458419" y="0"/>
                  </a:lnTo>
                  <a:lnTo>
                    <a:pt x="5458419" y="1483907"/>
                  </a:lnTo>
                  <a:lnTo>
                    <a:pt x="0" y="148390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5458419" cy="152200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28700" y="4563791"/>
            <a:ext cx="946844" cy="946844"/>
            <a:chOff x="0" y="0"/>
            <a:chExt cx="556826" cy="55682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556826" cy="556826"/>
            </a:xfrm>
            <a:custGeom>
              <a:avLst/>
              <a:gdLst/>
              <a:ahLst/>
              <a:cxnLst/>
              <a:rect r="r" b="b" t="t" l="l"/>
              <a:pathLst>
                <a:path h="556826" w="556826">
                  <a:moveTo>
                    <a:pt x="278413" y="0"/>
                  </a:moveTo>
                  <a:cubicBezTo>
                    <a:pt x="124650" y="0"/>
                    <a:pt x="0" y="124650"/>
                    <a:pt x="0" y="278413"/>
                  </a:cubicBezTo>
                  <a:cubicBezTo>
                    <a:pt x="0" y="432176"/>
                    <a:pt x="124650" y="556826"/>
                    <a:pt x="278413" y="556826"/>
                  </a:cubicBezTo>
                  <a:cubicBezTo>
                    <a:pt x="432176" y="556826"/>
                    <a:pt x="556826" y="432176"/>
                    <a:pt x="556826" y="278413"/>
                  </a:cubicBezTo>
                  <a:cubicBezTo>
                    <a:pt x="556826" y="124650"/>
                    <a:pt x="432176" y="0"/>
                    <a:pt x="278413" y="0"/>
                  </a:cubicBezTo>
                  <a:close/>
                </a:path>
              </a:pathLst>
            </a:custGeom>
            <a:solidFill>
              <a:srgbClr val="86EAE9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52202" y="-4948"/>
              <a:ext cx="452421" cy="5095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19"/>
                </a:lnSpc>
              </a:pPr>
              <a:r>
                <a:rPr lang="en-US" b="true" sz="2799">
                  <a:solidFill>
                    <a:srgbClr val="FFFFFF"/>
                  </a:solidFill>
                  <a:latin typeface="Aileron Bold"/>
                  <a:ea typeface="Aileron Bold"/>
                  <a:cs typeface="Aileron Bold"/>
                  <a:sym typeface="Aileron Bold"/>
                </a:rPr>
                <a:t>1</a:t>
              </a:r>
            </a:p>
          </p:txBody>
        </p:sp>
      </p:grpSp>
      <p:sp>
        <p:nvSpPr>
          <p:cNvPr name="AutoShape 12" id="12"/>
          <p:cNvSpPr/>
          <p:nvPr/>
        </p:nvSpPr>
        <p:spPr>
          <a:xfrm>
            <a:off x="1106063" y="5882882"/>
            <a:ext cx="792119" cy="47625"/>
          </a:xfrm>
          <a:prstGeom prst="line">
            <a:avLst/>
          </a:prstGeom>
          <a:ln cap="flat" w="47625">
            <a:solidFill>
              <a:srgbClr val="86EAE9"/>
            </a:solidFill>
            <a:prstDash val="solid"/>
            <a:headEnd type="none" len="sm" w="sm"/>
            <a:tailEnd type="oval" len="lg" w="lg"/>
          </a:ln>
        </p:spPr>
      </p:sp>
      <p:grpSp>
        <p:nvGrpSpPr>
          <p:cNvPr name="Group 13" id="13"/>
          <p:cNvGrpSpPr/>
          <p:nvPr/>
        </p:nvGrpSpPr>
        <p:grpSpPr>
          <a:xfrm rot="0">
            <a:off x="16293406" y="884521"/>
            <a:ext cx="946844" cy="946844"/>
            <a:chOff x="0" y="0"/>
            <a:chExt cx="556826" cy="55682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56826" cy="556826"/>
            </a:xfrm>
            <a:custGeom>
              <a:avLst/>
              <a:gdLst/>
              <a:ahLst/>
              <a:cxnLst/>
              <a:rect r="r" b="b" t="t" l="l"/>
              <a:pathLst>
                <a:path h="556826" w="556826">
                  <a:moveTo>
                    <a:pt x="278413" y="0"/>
                  </a:moveTo>
                  <a:cubicBezTo>
                    <a:pt x="124650" y="0"/>
                    <a:pt x="0" y="124650"/>
                    <a:pt x="0" y="278413"/>
                  </a:cubicBezTo>
                  <a:cubicBezTo>
                    <a:pt x="0" y="432176"/>
                    <a:pt x="124650" y="556826"/>
                    <a:pt x="278413" y="556826"/>
                  </a:cubicBezTo>
                  <a:cubicBezTo>
                    <a:pt x="432176" y="556826"/>
                    <a:pt x="556826" y="432176"/>
                    <a:pt x="556826" y="278413"/>
                  </a:cubicBezTo>
                  <a:cubicBezTo>
                    <a:pt x="556826" y="124650"/>
                    <a:pt x="432176" y="0"/>
                    <a:pt x="278413" y="0"/>
                  </a:cubicBezTo>
                  <a:close/>
                </a:path>
              </a:pathLst>
            </a:custGeom>
            <a:solidFill>
              <a:srgbClr val="13538A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52202" y="-4948"/>
              <a:ext cx="452421" cy="5095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19"/>
                </a:lnSpc>
              </a:pPr>
              <a:r>
                <a:rPr lang="en-US" b="true" sz="2799">
                  <a:solidFill>
                    <a:srgbClr val="FFFFFF"/>
                  </a:solidFill>
                  <a:latin typeface="Aileron Bold"/>
                  <a:ea typeface="Aileron Bold"/>
                  <a:cs typeface="Aileron Bold"/>
                  <a:sym typeface="Aileron Bold"/>
                </a:rPr>
                <a:t>6</a:t>
              </a:r>
            </a:p>
          </p:txBody>
        </p:sp>
      </p:grpSp>
      <p:sp>
        <p:nvSpPr>
          <p:cNvPr name="AutoShape 16" id="16"/>
          <p:cNvSpPr/>
          <p:nvPr/>
        </p:nvSpPr>
        <p:spPr>
          <a:xfrm>
            <a:off x="16398901" y="2175480"/>
            <a:ext cx="735854" cy="47625"/>
          </a:xfrm>
          <a:prstGeom prst="line">
            <a:avLst/>
          </a:prstGeom>
          <a:ln cap="flat" w="47625">
            <a:solidFill>
              <a:srgbClr val="13538A"/>
            </a:solidFill>
            <a:prstDash val="solid"/>
            <a:headEnd type="none" len="sm" w="sm"/>
            <a:tailEnd type="oval" len="lg" w="lg"/>
          </a:ln>
        </p:spPr>
      </p:sp>
      <p:grpSp>
        <p:nvGrpSpPr>
          <p:cNvPr name="Group 17" id="17"/>
          <p:cNvGrpSpPr/>
          <p:nvPr/>
        </p:nvGrpSpPr>
        <p:grpSpPr>
          <a:xfrm rot="0">
            <a:off x="13240464" y="1620375"/>
            <a:ext cx="946844" cy="946844"/>
            <a:chOff x="0" y="0"/>
            <a:chExt cx="556826" cy="55682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56826" cy="556826"/>
            </a:xfrm>
            <a:custGeom>
              <a:avLst/>
              <a:gdLst/>
              <a:ahLst/>
              <a:cxnLst/>
              <a:rect r="r" b="b" t="t" l="l"/>
              <a:pathLst>
                <a:path h="556826" w="556826">
                  <a:moveTo>
                    <a:pt x="278413" y="0"/>
                  </a:moveTo>
                  <a:cubicBezTo>
                    <a:pt x="124650" y="0"/>
                    <a:pt x="0" y="124650"/>
                    <a:pt x="0" y="278413"/>
                  </a:cubicBezTo>
                  <a:cubicBezTo>
                    <a:pt x="0" y="432176"/>
                    <a:pt x="124650" y="556826"/>
                    <a:pt x="278413" y="556826"/>
                  </a:cubicBezTo>
                  <a:cubicBezTo>
                    <a:pt x="432176" y="556826"/>
                    <a:pt x="556826" y="432176"/>
                    <a:pt x="556826" y="278413"/>
                  </a:cubicBezTo>
                  <a:cubicBezTo>
                    <a:pt x="556826" y="124650"/>
                    <a:pt x="432176" y="0"/>
                    <a:pt x="278413" y="0"/>
                  </a:cubicBezTo>
                  <a:close/>
                </a:path>
              </a:pathLst>
            </a:custGeom>
            <a:solidFill>
              <a:srgbClr val="1C88CF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52202" y="-4948"/>
              <a:ext cx="452421" cy="5095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19"/>
                </a:lnSpc>
              </a:pPr>
              <a:r>
                <a:rPr lang="en-US" b="true" sz="2799">
                  <a:solidFill>
                    <a:srgbClr val="FFFFFF"/>
                  </a:solidFill>
                  <a:latin typeface="Aileron Bold"/>
                  <a:ea typeface="Aileron Bold"/>
                  <a:cs typeface="Aileron Bold"/>
                  <a:sym typeface="Aileron Bold"/>
                </a:rPr>
                <a:t>5</a:t>
              </a:r>
            </a:p>
          </p:txBody>
        </p:sp>
      </p:grpSp>
      <p:sp>
        <p:nvSpPr>
          <p:cNvPr name="AutoShape 20" id="20"/>
          <p:cNvSpPr/>
          <p:nvPr/>
        </p:nvSpPr>
        <p:spPr>
          <a:xfrm>
            <a:off x="13345960" y="2911334"/>
            <a:ext cx="735854" cy="47625"/>
          </a:xfrm>
          <a:prstGeom prst="line">
            <a:avLst/>
          </a:prstGeom>
          <a:ln cap="flat" w="47625">
            <a:solidFill>
              <a:srgbClr val="1C88CF"/>
            </a:solidFill>
            <a:prstDash val="solid"/>
            <a:headEnd type="none" len="sm" w="sm"/>
            <a:tailEnd type="oval" len="lg" w="lg"/>
          </a:ln>
        </p:spPr>
      </p:sp>
      <p:grpSp>
        <p:nvGrpSpPr>
          <p:cNvPr name="Group 21" id="21"/>
          <p:cNvGrpSpPr/>
          <p:nvPr/>
        </p:nvGrpSpPr>
        <p:grpSpPr>
          <a:xfrm rot="0">
            <a:off x="10187523" y="2356229"/>
            <a:ext cx="946844" cy="946844"/>
            <a:chOff x="0" y="0"/>
            <a:chExt cx="556826" cy="556826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556826" cy="556826"/>
            </a:xfrm>
            <a:custGeom>
              <a:avLst/>
              <a:gdLst/>
              <a:ahLst/>
              <a:cxnLst/>
              <a:rect r="r" b="b" t="t" l="l"/>
              <a:pathLst>
                <a:path h="556826" w="556826">
                  <a:moveTo>
                    <a:pt x="278413" y="0"/>
                  </a:moveTo>
                  <a:cubicBezTo>
                    <a:pt x="124650" y="0"/>
                    <a:pt x="0" y="124650"/>
                    <a:pt x="0" y="278413"/>
                  </a:cubicBezTo>
                  <a:cubicBezTo>
                    <a:pt x="0" y="432176"/>
                    <a:pt x="124650" y="556826"/>
                    <a:pt x="278413" y="556826"/>
                  </a:cubicBezTo>
                  <a:cubicBezTo>
                    <a:pt x="432176" y="556826"/>
                    <a:pt x="556826" y="432176"/>
                    <a:pt x="556826" y="278413"/>
                  </a:cubicBezTo>
                  <a:cubicBezTo>
                    <a:pt x="556826" y="124650"/>
                    <a:pt x="432176" y="0"/>
                    <a:pt x="278413" y="0"/>
                  </a:cubicBezTo>
                  <a:close/>
                </a:path>
              </a:pathLst>
            </a:custGeom>
            <a:solidFill>
              <a:srgbClr val="18AFD6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52202" y="-4948"/>
              <a:ext cx="452421" cy="5095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19"/>
                </a:lnSpc>
              </a:pPr>
              <a:r>
                <a:rPr lang="en-US" b="true" sz="2799">
                  <a:solidFill>
                    <a:srgbClr val="FFFFFF"/>
                  </a:solidFill>
                  <a:latin typeface="Aileron Bold"/>
                  <a:ea typeface="Aileron Bold"/>
                  <a:cs typeface="Aileron Bold"/>
                  <a:sym typeface="Aileron Bold"/>
                </a:rPr>
                <a:t>4</a:t>
              </a:r>
            </a:p>
          </p:txBody>
        </p:sp>
      </p:grpSp>
      <p:sp>
        <p:nvSpPr>
          <p:cNvPr name="AutoShape 24" id="24"/>
          <p:cNvSpPr/>
          <p:nvPr/>
        </p:nvSpPr>
        <p:spPr>
          <a:xfrm>
            <a:off x="10293019" y="3647188"/>
            <a:ext cx="735854" cy="47625"/>
          </a:xfrm>
          <a:prstGeom prst="line">
            <a:avLst/>
          </a:prstGeom>
          <a:ln cap="flat" w="47625">
            <a:solidFill>
              <a:srgbClr val="18AFD6"/>
            </a:solidFill>
            <a:prstDash val="solid"/>
            <a:headEnd type="none" len="sm" w="sm"/>
            <a:tailEnd type="oval" len="lg" w="lg"/>
          </a:ln>
        </p:spPr>
      </p:sp>
      <p:grpSp>
        <p:nvGrpSpPr>
          <p:cNvPr name="Group 25" id="25"/>
          <p:cNvGrpSpPr/>
          <p:nvPr/>
        </p:nvGrpSpPr>
        <p:grpSpPr>
          <a:xfrm rot="0">
            <a:off x="7134582" y="3092083"/>
            <a:ext cx="946844" cy="946844"/>
            <a:chOff x="0" y="0"/>
            <a:chExt cx="556826" cy="556826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556826" cy="556826"/>
            </a:xfrm>
            <a:custGeom>
              <a:avLst/>
              <a:gdLst/>
              <a:ahLst/>
              <a:cxnLst/>
              <a:rect r="r" b="b" t="t" l="l"/>
              <a:pathLst>
                <a:path h="556826" w="556826">
                  <a:moveTo>
                    <a:pt x="278413" y="0"/>
                  </a:moveTo>
                  <a:cubicBezTo>
                    <a:pt x="124650" y="0"/>
                    <a:pt x="0" y="124650"/>
                    <a:pt x="0" y="278413"/>
                  </a:cubicBezTo>
                  <a:cubicBezTo>
                    <a:pt x="0" y="432176"/>
                    <a:pt x="124650" y="556826"/>
                    <a:pt x="278413" y="556826"/>
                  </a:cubicBezTo>
                  <a:cubicBezTo>
                    <a:pt x="432176" y="556826"/>
                    <a:pt x="556826" y="432176"/>
                    <a:pt x="556826" y="278413"/>
                  </a:cubicBezTo>
                  <a:cubicBezTo>
                    <a:pt x="556826" y="124650"/>
                    <a:pt x="432176" y="0"/>
                    <a:pt x="278413" y="0"/>
                  </a:cubicBezTo>
                  <a:close/>
                </a:path>
              </a:pathLst>
            </a:custGeom>
            <a:solidFill>
              <a:srgbClr val="37C9E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52202" y="-4948"/>
              <a:ext cx="452421" cy="5095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19"/>
                </a:lnSpc>
              </a:pPr>
              <a:r>
                <a:rPr lang="en-US" b="true" sz="2799">
                  <a:solidFill>
                    <a:srgbClr val="FFFFFF"/>
                  </a:solidFill>
                  <a:latin typeface="Aileron Bold"/>
                  <a:ea typeface="Aileron Bold"/>
                  <a:cs typeface="Aileron Bold"/>
                  <a:sym typeface="Aileron Bold"/>
                </a:rPr>
                <a:t>3</a:t>
              </a:r>
            </a:p>
          </p:txBody>
        </p:sp>
      </p:grpSp>
      <p:sp>
        <p:nvSpPr>
          <p:cNvPr name="AutoShape 28" id="28"/>
          <p:cNvSpPr/>
          <p:nvPr/>
        </p:nvSpPr>
        <p:spPr>
          <a:xfrm>
            <a:off x="7240077" y="4383042"/>
            <a:ext cx="735854" cy="47625"/>
          </a:xfrm>
          <a:prstGeom prst="line">
            <a:avLst/>
          </a:prstGeom>
          <a:ln cap="flat" w="47625">
            <a:solidFill>
              <a:srgbClr val="37C9EF"/>
            </a:solidFill>
            <a:prstDash val="solid"/>
            <a:headEnd type="none" len="sm" w="sm"/>
            <a:tailEnd type="oval" len="lg" w="lg"/>
          </a:ln>
        </p:spPr>
      </p:sp>
      <p:grpSp>
        <p:nvGrpSpPr>
          <p:cNvPr name="Group 29" id="29"/>
          <p:cNvGrpSpPr/>
          <p:nvPr/>
        </p:nvGrpSpPr>
        <p:grpSpPr>
          <a:xfrm rot="0">
            <a:off x="4081641" y="3827937"/>
            <a:ext cx="946844" cy="946844"/>
            <a:chOff x="0" y="0"/>
            <a:chExt cx="556826" cy="556826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556826" cy="556826"/>
            </a:xfrm>
            <a:custGeom>
              <a:avLst/>
              <a:gdLst/>
              <a:ahLst/>
              <a:cxnLst/>
              <a:rect r="r" b="b" t="t" l="l"/>
              <a:pathLst>
                <a:path h="556826" w="556826">
                  <a:moveTo>
                    <a:pt x="278413" y="0"/>
                  </a:moveTo>
                  <a:cubicBezTo>
                    <a:pt x="124650" y="0"/>
                    <a:pt x="0" y="124650"/>
                    <a:pt x="0" y="278413"/>
                  </a:cubicBezTo>
                  <a:cubicBezTo>
                    <a:pt x="0" y="432176"/>
                    <a:pt x="124650" y="556826"/>
                    <a:pt x="278413" y="556826"/>
                  </a:cubicBezTo>
                  <a:cubicBezTo>
                    <a:pt x="432176" y="556826"/>
                    <a:pt x="556826" y="432176"/>
                    <a:pt x="556826" y="278413"/>
                  </a:cubicBezTo>
                  <a:cubicBezTo>
                    <a:pt x="556826" y="124650"/>
                    <a:pt x="432176" y="0"/>
                    <a:pt x="278413" y="0"/>
                  </a:cubicBezTo>
                  <a:close/>
                </a:path>
              </a:pathLst>
            </a:custGeom>
            <a:solidFill>
              <a:srgbClr val="3EDAD8"/>
            </a:solidFill>
          </p:spPr>
        </p:sp>
        <p:sp>
          <p:nvSpPr>
            <p:cNvPr name="TextBox 31" id="31"/>
            <p:cNvSpPr txBox="true"/>
            <p:nvPr/>
          </p:nvSpPr>
          <p:spPr>
            <a:xfrm>
              <a:off x="52202" y="-4948"/>
              <a:ext cx="452421" cy="5095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19"/>
                </a:lnSpc>
              </a:pPr>
              <a:r>
                <a:rPr lang="en-US" b="true" sz="2799">
                  <a:solidFill>
                    <a:srgbClr val="FFFFFF"/>
                  </a:solidFill>
                  <a:latin typeface="Aileron Bold"/>
                  <a:ea typeface="Aileron Bold"/>
                  <a:cs typeface="Aileron Bold"/>
                  <a:sym typeface="Aileron Bold"/>
                </a:rPr>
                <a:t>2</a:t>
              </a:r>
            </a:p>
          </p:txBody>
        </p:sp>
      </p:grpSp>
      <p:sp>
        <p:nvSpPr>
          <p:cNvPr name="AutoShape 32" id="32"/>
          <p:cNvSpPr/>
          <p:nvPr/>
        </p:nvSpPr>
        <p:spPr>
          <a:xfrm>
            <a:off x="4187136" y="5118895"/>
            <a:ext cx="735854" cy="47625"/>
          </a:xfrm>
          <a:prstGeom prst="line">
            <a:avLst/>
          </a:prstGeom>
          <a:ln cap="flat" w="47625">
            <a:solidFill>
              <a:srgbClr val="3EDAD8"/>
            </a:solidFill>
            <a:prstDash val="solid"/>
            <a:headEnd type="none" len="sm" w="sm"/>
            <a:tailEnd type="oval" len="lg" w="lg"/>
          </a:ln>
        </p:spPr>
      </p:sp>
      <p:sp>
        <p:nvSpPr>
          <p:cNvPr name="TextBox 33" id="33"/>
          <p:cNvSpPr txBox="true"/>
          <p:nvPr/>
        </p:nvSpPr>
        <p:spPr>
          <a:xfrm rot="0">
            <a:off x="1050383" y="995919"/>
            <a:ext cx="7232747" cy="5524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b="true" sz="3600" spc="107">
                <a:solidFill>
                  <a:srgbClr val="191919"/>
                </a:solidFill>
                <a:latin typeface="Aileron Ultra-Bold"/>
                <a:ea typeface="Aileron Ultra-Bold"/>
                <a:cs typeface="Aileron Ultra-Bold"/>
                <a:sym typeface="Aileron Ultra-Bold"/>
              </a:rPr>
              <a:t>DESCRIPCIÓN DEL DATASET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000750" y="3792974"/>
            <a:ext cx="3143250" cy="3143250"/>
            <a:chOff x="0" y="0"/>
            <a:chExt cx="827852" cy="82785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27852" cy="827852"/>
            </a:xfrm>
            <a:custGeom>
              <a:avLst/>
              <a:gdLst/>
              <a:ahLst/>
              <a:cxnLst/>
              <a:rect r="r" b="b" t="t" l="l"/>
              <a:pathLst>
                <a:path h="827852" w="827852">
                  <a:moveTo>
                    <a:pt x="0" y="0"/>
                  </a:moveTo>
                  <a:lnTo>
                    <a:pt x="827852" y="0"/>
                  </a:lnTo>
                  <a:lnTo>
                    <a:pt x="827852" y="827852"/>
                  </a:lnTo>
                  <a:lnTo>
                    <a:pt x="0" y="827852"/>
                  </a:lnTo>
                  <a:close/>
                </a:path>
              </a:pathLst>
            </a:custGeom>
            <a:solidFill>
              <a:srgbClr val="2C92D5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61925"/>
              <a:ext cx="827852" cy="98977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1480"/>
                </a:lnSpc>
              </a:pPr>
              <a:r>
                <a:rPr lang="en-US" b="true" sz="8200">
                  <a:solidFill>
                    <a:srgbClr val="FFFFFF"/>
                  </a:solidFill>
                  <a:latin typeface="Aileron Ultra-Bold"/>
                  <a:ea typeface="Aileron Ultra-Bold"/>
                  <a:cs typeface="Aileron Ultra-Bold"/>
                  <a:sym typeface="Aileron Ultra-Bold"/>
                </a:rPr>
                <a:t>≤ 50K</a:t>
              </a: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-5400000">
            <a:off x="6039693" y="6272914"/>
            <a:ext cx="624367" cy="702253"/>
          </a:xfrm>
          <a:custGeom>
            <a:avLst/>
            <a:gdLst/>
            <a:ahLst/>
            <a:cxnLst/>
            <a:rect r="r" b="b" t="t" l="l"/>
            <a:pathLst>
              <a:path h="702253" w="624367">
                <a:moveTo>
                  <a:pt x="0" y="0"/>
                </a:moveTo>
                <a:lnTo>
                  <a:pt x="624367" y="0"/>
                </a:lnTo>
                <a:lnTo>
                  <a:pt x="624367" y="702253"/>
                </a:lnTo>
                <a:lnTo>
                  <a:pt x="0" y="7022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1028700" y="4429789"/>
            <a:ext cx="4191000" cy="1728066"/>
            <a:chOff x="0" y="0"/>
            <a:chExt cx="5588000" cy="2304088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28575"/>
              <a:ext cx="5588000" cy="59080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>
                <a:lnSpc>
                  <a:spcPts val="3640"/>
                </a:lnSpc>
              </a:pPr>
              <a:r>
                <a:rPr lang="en-US" b="true" sz="2800" spc="84">
                  <a:solidFill>
                    <a:srgbClr val="2C92D5"/>
                  </a:solidFill>
                  <a:latin typeface="Aileron Bold"/>
                  <a:ea typeface="Aileron Bold"/>
                  <a:cs typeface="Aileron Bold"/>
                  <a:sym typeface="Aileron Bold"/>
                </a:rPr>
                <a:t>INCOME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778131"/>
              <a:ext cx="5588000" cy="15259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 marL="474981" indent="-237491" lvl="1">
                <a:lnSpc>
                  <a:spcPts val="3080"/>
                </a:lnSpc>
                <a:buFont typeface="Arial"/>
                <a:buChar char="•"/>
              </a:pPr>
              <a:r>
                <a:rPr lang="en-US" sz="2200" spc="33">
                  <a:solidFill>
                    <a:srgbClr val="191919"/>
                  </a:solidFill>
                  <a:latin typeface="Aileron"/>
                  <a:ea typeface="Aileron"/>
                  <a:cs typeface="Aileron"/>
                  <a:sym typeface="Aileron"/>
                </a:rPr>
                <a:t>≤ 50K → Ingresos ≤ 50.000 $</a:t>
              </a:r>
            </a:p>
            <a:p>
              <a:pPr algn="r" marL="474981" indent="-237491" lvl="1">
                <a:lnSpc>
                  <a:spcPts val="3080"/>
                </a:lnSpc>
                <a:buFont typeface="Arial"/>
                <a:buChar char="•"/>
              </a:pPr>
              <a:r>
                <a:rPr lang="en-US" sz="2200" spc="33">
                  <a:solidFill>
                    <a:srgbClr val="191919"/>
                  </a:solidFill>
                  <a:latin typeface="Aileron"/>
                  <a:ea typeface="Aileron"/>
                  <a:cs typeface="Aileron"/>
                  <a:sym typeface="Aileron"/>
                </a:rPr>
                <a:t>50K → Ingresos &gt; 50.000 $</a:t>
              </a:r>
            </a:p>
            <a:p>
              <a:pPr algn="r">
                <a:lnSpc>
                  <a:spcPts val="3080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3068300" y="4563189"/>
            <a:ext cx="4191000" cy="9074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</a:pPr>
            <a:r>
              <a:rPr lang="en-US" b="true" sz="2800" spc="84">
                <a:solidFill>
                  <a:srgbClr val="2C92D5"/>
                </a:solidFill>
                <a:latin typeface="Aileron Bold"/>
                <a:ea typeface="Aileron Bold"/>
                <a:cs typeface="Aileron Bold"/>
                <a:sym typeface="Aileron Bold"/>
              </a:rPr>
              <a:t>VARIABLE CATEGÓRICA BINARIA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9144000" y="3792974"/>
            <a:ext cx="3143250" cy="3143250"/>
            <a:chOff x="0" y="0"/>
            <a:chExt cx="827852" cy="82785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27852" cy="827852"/>
            </a:xfrm>
            <a:custGeom>
              <a:avLst/>
              <a:gdLst/>
              <a:ahLst/>
              <a:cxnLst/>
              <a:rect r="r" b="b" t="t" l="l"/>
              <a:pathLst>
                <a:path h="827852" w="827852">
                  <a:moveTo>
                    <a:pt x="0" y="0"/>
                  </a:moveTo>
                  <a:lnTo>
                    <a:pt x="827852" y="0"/>
                  </a:lnTo>
                  <a:lnTo>
                    <a:pt x="827852" y="827852"/>
                  </a:lnTo>
                  <a:lnTo>
                    <a:pt x="0" y="827852"/>
                  </a:lnTo>
                  <a:close/>
                </a:path>
              </a:pathLst>
            </a:custGeom>
            <a:solidFill>
              <a:srgbClr val="37C9EF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61925"/>
              <a:ext cx="827852" cy="98977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1480"/>
                </a:lnSpc>
              </a:pPr>
              <a:r>
                <a:rPr lang="en-US" b="true" sz="8200">
                  <a:solidFill>
                    <a:srgbClr val="FFFFFF"/>
                  </a:solidFill>
                  <a:latin typeface="Aileron Ultra-Bold"/>
                  <a:ea typeface="Aileron Ultra-Bold"/>
                  <a:cs typeface="Aileron Ultra-Bold"/>
                  <a:sym typeface="Aileron Ultra-Bold"/>
                </a:rPr>
                <a:t>50K</a:t>
              </a:r>
            </a:p>
          </p:txBody>
        </p:sp>
      </p:grpSp>
      <p:sp>
        <p:nvSpPr>
          <p:cNvPr name="Freeform 13" id="13"/>
          <p:cNvSpPr/>
          <p:nvPr/>
        </p:nvSpPr>
        <p:spPr>
          <a:xfrm flipH="false" flipV="false" rot="0">
            <a:off x="9144000" y="2000250"/>
            <a:ext cx="624367" cy="702253"/>
          </a:xfrm>
          <a:custGeom>
            <a:avLst/>
            <a:gdLst/>
            <a:ahLst/>
            <a:cxnLst/>
            <a:rect r="r" b="b" t="t" l="l"/>
            <a:pathLst>
              <a:path h="702253" w="624367">
                <a:moveTo>
                  <a:pt x="0" y="0"/>
                </a:moveTo>
                <a:lnTo>
                  <a:pt x="624367" y="0"/>
                </a:lnTo>
                <a:lnTo>
                  <a:pt x="624367" y="702253"/>
                </a:lnTo>
                <a:lnTo>
                  <a:pt x="0" y="7022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-10800000">
            <a:off x="11662883" y="6311857"/>
            <a:ext cx="624367" cy="702253"/>
          </a:xfrm>
          <a:custGeom>
            <a:avLst/>
            <a:gdLst/>
            <a:ahLst/>
            <a:cxnLst/>
            <a:rect r="r" b="b" t="t" l="l"/>
            <a:pathLst>
              <a:path h="702253" w="624367">
                <a:moveTo>
                  <a:pt x="0" y="0"/>
                </a:moveTo>
                <a:lnTo>
                  <a:pt x="624367" y="0"/>
                </a:lnTo>
                <a:lnTo>
                  <a:pt x="624367" y="702253"/>
                </a:lnTo>
                <a:lnTo>
                  <a:pt x="0" y="7022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050383" y="995919"/>
            <a:ext cx="7232747" cy="5524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b="true" sz="3600" spc="107">
                <a:solidFill>
                  <a:srgbClr val="191919"/>
                </a:solidFill>
                <a:latin typeface="Aileron Ultra-Bold"/>
                <a:ea typeface="Aileron Ultra-Bold"/>
                <a:cs typeface="Aileron Ultra-Bold"/>
                <a:sym typeface="Aileron Ultra-Bold"/>
              </a:rPr>
              <a:t>VARIABLE OBJETIVO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6268991" cy="10287000"/>
            <a:chOff x="0" y="0"/>
            <a:chExt cx="1651092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651092" cy="2709333"/>
            </a:xfrm>
            <a:custGeom>
              <a:avLst/>
              <a:gdLst/>
              <a:ahLst/>
              <a:cxnLst/>
              <a:rect r="r" b="b" t="t" l="l"/>
              <a:pathLst>
                <a:path h="2709333" w="1651092">
                  <a:moveTo>
                    <a:pt x="0" y="0"/>
                  </a:moveTo>
                  <a:lnTo>
                    <a:pt x="1651092" y="0"/>
                  </a:lnTo>
                  <a:lnTo>
                    <a:pt x="16510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13538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651092" cy="27474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pic>
        <p:nvPicPr>
          <p:cNvPr name="Picture 5" id="5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8282602" y="676863"/>
            <a:ext cx="8236864" cy="8229389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 rot="0">
            <a:off x="355494" y="5762405"/>
            <a:ext cx="5558004" cy="5132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263"/>
              </a:lnSpc>
            </a:pPr>
            <a:r>
              <a:rPr lang="en-US" sz="3045" spc="45">
                <a:solidFill>
                  <a:srgbClr val="FFFFFF"/>
                </a:solidFill>
                <a:latin typeface="Aileron"/>
                <a:ea typeface="Aileron"/>
                <a:cs typeface="Aileron"/>
                <a:sym typeface="Aileron"/>
              </a:rPr>
              <a:t>Desbalance moderado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55494" y="3455749"/>
            <a:ext cx="5558004" cy="20358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903"/>
              </a:lnSpc>
            </a:pPr>
            <a:r>
              <a:rPr lang="en-US" sz="7184" b="true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Distribución de ingresos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000002" y="1028700"/>
            <a:ext cx="14287996" cy="1159327"/>
            <a:chOff x="0" y="0"/>
            <a:chExt cx="19050662" cy="1545769"/>
          </a:xfrm>
        </p:grpSpPr>
        <p:sp>
          <p:nvSpPr>
            <p:cNvPr name="TextBox 3" id="3"/>
            <p:cNvSpPr txBox="true"/>
            <p:nvPr/>
          </p:nvSpPr>
          <p:spPr>
            <a:xfrm rot="0">
              <a:off x="0" y="1122771"/>
              <a:ext cx="19050662" cy="42299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700"/>
                </a:lnSpc>
              </a:pPr>
            </a:p>
          </p:txBody>
        </p:sp>
        <p:sp>
          <p:nvSpPr>
            <p:cNvPr name="TextBox 4" id="4"/>
            <p:cNvSpPr txBox="true"/>
            <p:nvPr/>
          </p:nvSpPr>
          <p:spPr>
            <a:xfrm rot="0">
              <a:off x="0" y="-9525"/>
              <a:ext cx="19050662" cy="10255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6000"/>
                </a:lnSpc>
              </a:pPr>
              <a:r>
                <a:rPr lang="en-US" b="true" sz="5000">
                  <a:solidFill>
                    <a:srgbClr val="191919"/>
                  </a:solidFill>
                  <a:latin typeface="Aileron Bold"/>
                  <a:ea typeface="Aileron Bold"/>
                  <a:cs typeface="Aileron Bold"/>
                  <a:sym typeface="Aileron Bold"/>
                </a:rPr>
                <a:t>VARIABLES ANALIZADAS</a:t>
              </a:r>
            </a:p>
          </p:txBody>
        </p:sp>
      </p:grpSp>
      <p:graphicFrame>
        <p:nvGraphicFramePr>
          <p:cNvPr name="Table 5" id="5"/>
          <p:cNvGraphicFramePr>
            <a:graphicFrameLocks noGrp="true"/>
          </p:cNvGraphicFramePr>
          <p:nvPr/>
        </p:nvGraphicFramePr>
        <p:xfrm>
          <a:off x="1028700" y="4854576"/>
          <a:ext cx="16230600" cy="4853497"/>
        </p:xfrm>
        <a:graphic>
          <a:graphicData uri="http://schemas.openxmlformats.org/drawingml/2006/table">
            <a:tbl>
              <a:tblPr/>
              <a:tblGrid>
                <a:gridCol w="3784663"/>
                <a:gridCol w="3784663"/>
                <a:gridCol w="3784663"/>
              </a:tblGrid>
              <a:tr h="1609026">
                <a:tc rowSpan="2">
                  <a:txBody>
                    <a:bodyPr anchor="t" rtlCol="false"/>
                    <a:lstStyle/>
                    <a:p>
                      <a:pPr algn="ctr">
                        <a:lnSpc>
                          <a:spcPts val="3900"/>
                        </a:lnSpc>
                        <a:defRPr/>
                      </a:pPr>
                      <a:r>
                        <a:rPr lang="en-US" b="true" sz="3000" spc="44">
                          <a:solidFill>
                            <a:srgbClr val="191919"/>
                          </a:solidFill>
                          <a:latin typeface="Aileron Bold"/>
                          <a:ea typeface="Aileron Bold"/>
                          <a:cs typeface="Aileron Bold"/>
                          <a:sym typeface="Aileron Bold"/>
                        </a:rPr>
                        <a:t>VARIABLES DEMOGRÁFICAS</a:t>
                      </a:r>
                      <a:endParaRPr lang="en-US" sz="1100"/>
                    </a:p>
                    <a:p>
                      <a:pPr algn="ctr">
                        <a:lnSpc>
                          <a:spcPts val="3900"/>
                        </a:lnSpc>
                      </a:pPr>
                    </a:p>
                    <a:p>
                      <a:pPr algn="ctr" marL="647700" indent="-323850" lvl="1">
                        <a:lnSpc>
                          <a:spcPts val="3900"/>
                        </a:lnSpc>
                        <a:buFont typeface="Arial"/>
                        <a:buChar char="•"/>
                      </a:pPr>
                      <a:r>
                        <a:rPr lang="en-US" sz="3000" spc="44">
                          <a:solidFill>
                            <a:srgbClr val="191919"/>
                          </a:solidFill>
                          <a:latin typeface="Aileron"/>
                          <a:ea typeface="Aileron"/>
                          <a:cs typeface="Aileron"/>
                          <a:sym typeface="Aileron"/>
                        </a:rPr>
                        <a:t>EDAD, SEXO, RAZA</a:t>
                      </a:r>
                    </a:p>
                    <a:p>
                      <a:pPr algn="ctr" marL="647700" indent="-323850" lvl="1">
                        <a:lnSpc>
                          <a:spcPts val="3900"/>
                        </a:lnSpc>
                        <a:buFont typeface="Arial"/>
                        <a:buChar char="•"/>
                      </a:pPr>
                      <a:r>
                        <a:rPr lang="en-US" sz="3000" spc="44">
                          <a:solidFill>
                            <a:srgbClr val="191919"/>
                          </a:solidFill>
                          <a:latin typeface="Aileron"/>
                          <a:ea typeface="Aileron"/>
                          <a:cs typeface="Aileron"/>
                          <a:sym typeface="Aileron"/>
                        </a:rPr>
                        <a:t>País de origen, estado civil</a:t>
                      </a:r>
                    </a:p>
                    <a:p>
                      <a:pPr algn="ctr">
                        <a:lnSpc>
                          <a:spcPts val="3900"/>
                        </a:lnSpc>
                      </a:pPr>
                    </a:p>
                    <a:p>
                      <a:pPr algn="ctr">
                        <a:lnSpc>
                          <a:spcPts val="3900"/>
                        </a:lnSpc>
                      </a:pPr>
                    </a:p>
                  </a:txBody>
                  <a:tcPr marL="190500" marR="190500" marT="190500" marB="190500" anchor="ctr">
                    <a:lnL cmpd="sng" algn="ctr" cap="flat" w="47625">
                      <a:solidFill>
                        <a:srgbClr val="ED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ED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ED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ED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 anchor="t" rtlCol="false"/>
                    <a:lstStyle/>
                    <a:p>
                      <a:pPr algn="ctr">
                        <a:lnSpc>
                          <a:spcPts val="3900"/>
                        </a:lnSpc>
                        <a:defRPr/>
                      </a:pPr>
                      <a:r>
                        <a:rPr lang="en-US" b="true" sz="3000" spc="44">
                          <a:solidFill>
                            <a:srgbClr val="191919"/>
                          </a:solidFill>
                          <a:latin typeface="Aileron Bold"/>
                          <a:ea typeface="Aileron Bold"/>
                          <a:cs typeface="Aileron Bold"/>
                          <a:sym typeface="Aileron Bold"/>
                        </a:rPr>
                        <a:t>VARIABLES EDUCATIVOS</a:t>
                      </a:r>
                      <a:endParaRPr lang="en-US" sz="1100"/>
                    </a:p>
                    <a:p>
                      <a:pPr algn="ctr">
                        <a:lnSpc>
                          <a:spcPts val="3900"/>
                        </a:lnSpc>
                      </a:pPr>
                    </a:p>
                    <a:p>
                      <a:pPr algn="ctr" marL="647700" indent="-323850" lvl="1">
                        <a:lnSpc>
                          <a:spcPts val="3900"/>
                        </a:lnSpc>
                        <a:buFont typeface="Arial"/>
                        <a:buChar char="•"/>
                      </a:pPr>
                      <a:r>
                        <a:rPr lang="en-US" sz="3000" spc="44">
                          <a:solidFill>
                            <a:srgbClr val="191919"/>
                          </a:solidFill>
                          <a:latin typeface="Aileron"/>
                          <a:ea typeface="Aileron"/>
                          <a:cs typeface="Aileron"/>
                          <a:sym typeface="Aileron"/>
                        </a:rPr>
                        <a:t>NIVEL EDUCATIVO</a:t>
                      </a:r>
                    </a:p>
                    <a:p>
                      <a:pPr algn="ctr" marL="647700" indent="-323850" lvl="1">
                        <a:lnSpc>
                          <a:spcPts val="3900"/>
                        </a:lnSpc>
                        <a:buFont typeface="Arial"/>
                        <a:buChar char="•"/>
                      </a:pPr>
                      <a:r>
                        <a:rPr lang="en-US" sz="3000" spc="44">
                          <a:solidFill>
                            <a:srgbClr val="191919"/>
                          </a:solidFill>
                          <a:latin typeface="Aileron"/>
                          <a:ea typeface="Aileron"/>
                          <a:cs typeface="Aileron"/>
                          <a:sym typeface="Aileron"/>
                        </a:rPr>
                        <a:t>Años de educación</a:t>
                      </a:r>
                    </a:p>
                  </a:txBody>
                  <a:tcPr marL="190500" marR="190500" marT="190500" marB="190500" anchor="ctr">
                    <a:lnL cmpd="sng" algn="ctr" cap="flat" w="47625">
                      <a:solidFill>
                        <a:srgbClr val="ED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ED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ED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ED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 anchor="t" rtlCol="false"/>
                    <a:lstStyle/>
                    <a:p>
                      <a:pPr algn="ctr">
                        <a:lnSpc>
                          <a:spcPts val="3900"/>
                        </a:lnSpc>
                        <a:defRPr/>
                      </a:pPr>
                      <a:r>
                        <a:rPr lang="en-US" b="true" sz="3000" spc="44">
                          <a:solidFill>
                            <a:srgbClr val="191919"/>
                          </a:solidFill>
                          <a:latin typeface="Aileron Bold"/>
                          <a:ea typeface="Aileron Bold"/>
                          <a:cs typeface="Aileron Bold"/>
                          <a:sym typeface="Aileron Bold"/>
                        </a:rPr>
                        <a:t>VARIABLES LABORALES</a:t>
                      </a:r>
                      <a:endParaRPr lang="en-US" sz="1100"/>
                    </a:p>
                    <a:p>
                      <a:pPr algn="ctr">
                        <a:lnSpc>
                          <a:spcPts val="3900"/>
                        </a:lnSpc>
                      </a:pPr>
                    </a:p>
                    <a:p>
                      <a:pPr algn="ctr" marL="647700" indent="-323850" lvl="1">
                        <a:lnSpc>
                          <a:spcPts val="3900"/>
                        </a:lnSpc>
                        <a:buFont typeface="Arial"/>
                        <a:buChar char="•"/>
                      </a:pPr>
                      <a:r>
                        <a:rPr lang="en-US" sz="3000" spc="44">
                          <a:solidFill>
                            <a:srgbClr val="191919"/>
                          </a:solidFill>
                          <a:latin typeface="Aileron"/>
                          <a:ea typeface="Aileron"/>
                          <a:cs typeface="Aileron"/>
                          <a:sym typeface="Aileron"/>
                        </a:rPr>
                        <a:t>Ocupación</a:t>
                      </a:r>
                    </a:p>
                    <a:p>
                      <a:pPr algn="ctr" marL="647700" indent="-323850" lvl="1">
                        <a:lnSpc>
                          <a:spcPts val="3900"/>
                        </a:lnSpc>
                        <a:buFont typeface="Arial"/>
                        <a:buChar char="•"/>
                      </a:pPr>
                      <a:r>
                        <a:rPr lang="en-US" sz="3000" spc="44">
                          <a:solidFill>
                            <a:srgbClr val="191919"/>
                          </a:solidFill>
                          <a:latin typeface="Aileron"/>
                          <a:ea typeface="Aileron"/>
                          <a:cs typeface="Aileron"/>
                          <a:sym typeface="Aileron"/>
                        </a:rPr>
                        <a:t>Tipo de empleo</a:t>
                      </a:r>
                    </a:p>
                    <a:p>
                      <a:pPr algn="ctr" marL="647700" indent="-323850" lvl="1">
                        <a:lnSpc>
                          <a:spcPts val="3900"/>
                        </a:lnSpc>
                        <a:buFont typeface="Arial"/>
                        <a:buChar char="•"/>
                      </a:pPr>
                      <a:r>
                        <a:rPr lang="en-US" sz="3000" spc="44">
                          <a:solidFill>
                            <a:srgbClr val="191919"/>
                          </a:solidFill>
                          <a:latin typeface="Aileron"/>
                          <a:ea typeface="Aileron"/>
                          <a:cs typeface="Aileron"/>
                          <a:sym typeface="Aileron"/>
                        </a:rPr>
                        <a:t>Horas trabajadas</a:t>
                      </a:r>
                    </a:p>
                  </a:txBody>
                  <a:tcPr marL="190500" marR="190500" marT="190500" marB="190500" anchor="ctr">
                    <a:lnL cmpd="sng" algn="ctr" cap="flat" w="47625">
                      <a:solidFill>
                        <a:srgbClr val="ED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ED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ED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ED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4471">
                <a:tc vMerge="true">
                  <a:txBody>
                    <a:bodyPr anchor="t" rtlCol="false"/>
                    <a:lstStyle/>
                    <a:p>
                      <a:pPr algn="ctr">
                        <a:lnSpc>
                          <a:spcPts val="3900"/>
                        </a:lnSpc>
                        <a:defRPr/>
                      </a:pPr>
                      <a:r>
                        <a:rPr lang="en-US" b="true" sz="3000" spc="44">
                          <a:solidFill>
                            <a:srgbClr val="191919"/>
                          </a:solidFill>
                          <a:latin typeface="Aileron Bold"/>
                          <a:ea typeface="Aileron Bold"/>
                          <a:cs typeface="Aileron Bold"/>
                          <a:sym typeface="Aileron Bold"/>
                        </a:rPr>
                        <a:t>VARIABLES DEMOGRÁFICAS</a:t>
                      </a:r>
                      <a:endParaRPr lang="en-US" sz="1100"/>
                    </a:p>
                    <a:p>
                      <a:pPr algn="ctr">
                        <a:lnSpc>
                          <a:spcPts val="3900"/>
                        </a:lnSpc>
                      </a:pPr>
                    </a:p>
                    <a:p>
                      <a:pPr algn="ctr" marL="647700" indent="-323850" lvl="1">
                        <a:lnSpc>
                          <a:spcPts val="3900"/>
                        </a:lnSpc>
                        <a:buFont typeface="Arial"/>
                        <a:buChar char="•"/>
                      </a:pPr>
                      <a:r>
                        <a:rPr lang="en-US" sz="3000" spc="44">
                          <a:solidFill>
                            <a:srgbClr val="191919"/>
                          </a:solidFill>
                          <a:latin typeface="Aileron"/>
                          <a:ea typeface="Aileron"/>
                          <a:cs typeface="Aileron"/>
                          <a:sym typeface="Aileron"/>
                        </a:rPr>
                        <a:t>EDAD, SEXO, RAZA</a:t>
                      </a:r>
                    </a:p>
                    <a:p>
                      <a:pPr algn="ctr" marL="647700" indent="-323850" lvl="1">
                        <a:lnSpc>
                          <a:spcPts val="3900"/>
                        </a:lnSpc>
                        <a:buFont typeface="Arial"/>
                        <a:buChar char="•"/>
                      </a:pPr>
                      <a:r>
                        <a:rPr lang="en-US" sz="3000" spc="44">
                          <a:solidFill>
                            <a:srgbClr val="191919"/>
                          </a:solidFill>
                          <a:latin typeface="Aileron"/>
                          <a:ea typeface="Aileron"/>
                          <a:cs typeface="Aileron"/>
                          <a:sym typeface="Aileron"/>
                        </a:rPr>
                        <a:t>País de origen, estado civil</a:t>
                      </a:r>
                    </a:p>
                    <a:p>
                      <a:pPr algn="ctr">
                        <a:lnSpc>
                          <a:spcPts val="3900"/>
                        </a:lnSpc>
                      </a:pPr>
                    </a:p>
                    <a:p>
                      <a:pPr algn="ctr">
                        <a:lnSpc>
                          <a:spcPts val="3900"/>
                        </a:lnSpc>
                      </a:pPr>
                    </a:p>
                  </a:txBody>
                  <a:tcPr marL="190500" marR="190500" marT="190500" marB="190500" anchor="ctr">
                    <a:lnL cmpd="sng" algn="ctr" cap="flat" w="47625">
                      <a:solidFill>
                        <a:srgbClr val="ED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ED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ED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ED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true">
                  <a:txBody>
                    <a:bodyPr anchor="t" rtlCol="false"/>
                    <a:lstStyle/>
                    <a:p>
                      <a:pPr algn="ctr">
                        <a:lnSpc>
                          <a:spcPts val="3900"/>
                        </a:lnSpc>
                        <a:defRPr/>
                      </a:pPr>
                      <a:r>
                        <a:rPr lang="en-US" b="true" sz="3000" spc="44">
                          <a:solidFill>
                            <a:srgbClr val="191919"/>
                          </a:solidFill>
                          <a:latin typeface="Aileron Bold"/>
                          <a:ea typeface="Aileron Bold"/>
                          <a:cs typeface="Aileron Bold"/>
                          <a:sym typeface="Aileron Bold"/>
                        </a:rPr>
                        <a:t>VARIABLES EDUCATIVOS</a:t>
                      </a:r>
                      <a:endParaRPr lang="en-US" sz="1100"/>
                    </a:p>
                    <a:p>
                      <a:pPr algn="ctr">
                        <a:lnSpc>
                          <a:spcPts val="3900"/>
                        </a:lnSpc>
                      </a:pPr>
                    </a:p>
                    <a:p>
                      <a:pPr algn="ctr" marL="647700" indent="-323850" lvl="1">
                        <a:lnSpc>
                          <a:spcPts val="3900"/>
                        </a:lnSpc>
                        <a:buFont typeface="Arial"/>
                        <a:buChar char="•"/>
                      </a:pPr>
                      <a:r>
                        <a:rPr lang="en-US" sz="3000" spc="44">
                          <a:solidFill>
                            <a:srgbClr val="191919"/>
                          </a:solidFill>
                          <a:latin typeface="Aileron"/>
                          <a:ea typeface="Aileron"/>
                          <a:cs typeface="Aileron"/>
                          <a:sym typeface="Aileron"/>
                        </a:rPr>
                        <a:t>NIVEL EDUCATIVO</a:t>
                      </a:r>
                    </a:p>
                    <a:p>
                      <a:pPr algn="ctr" marL="647700" indent="-323850" lvl="1">
                        <a:lnSpc>
                          <a:spcPts val="3900"/>
                        </a:lnSpc>
                        <a:buFont typeface="Arial"/>
                        <a:buChar char="•"/>
                      </a:pPr>
                      <a:r>
                        <a:rPr lang="en-US" sz="3000" spc="44">
                          <a:solidFill>
                            <a:srgbClr val="191919"/>
                          </a:solidFill>
                          <a:latin typeface="Aileron"/>
                          <a:ea typeface="Aileron"/>
                          <a:cs typeface="Aileron"/>
                          <a:sym typeface="Aileron"/>
                        </a:rPr>
                        <a:t>Años de educación</a:t>
                      </a:r>
                    </a:p>
                  </a:txBody>
                  <a:tcPr marL="190500" marR="190500" marT="190500" marB="190500" anchor="ctr">
                    <a:lnL cmpd="sng" algn="ctr" cap="flat" w="47625">
                      <a:solidFill>
                        <a:srgbClr val="ED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ED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ED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ED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true">
                  <a:txBody>
                    <a:bodyPr anchor="t" rtlCol="false"/>
                    <a:lstStyle/>
                    <a:p>
                      <a:pPr algn="ctr">
                        <a:lnSpc>
                          <a:spcPts val="3900"/>
                        </a:lnSpc>
                        <a:defRPr/>
                      </a:pPr>
                      <a:r>
                        <a:rPr lang="en-US" b="true" sz="3000" spc="44">
                          <a:solidFill>
                            <a:srgbClr val="191919"/>
                          </a:solidFill>
                          <a:latin typeface="Aileron Bold"/>
                          <a:ea typeface="Aileron Bold"/>
                          <a:cs typeface="Aileron Bold"/>
                          <a:sym typeface="Aileron Bold"/>
                        </a:rPr>
                        <a:t>VARIABLES LABORALES</a:t>
                      </a:r>
                      <a:endParaRPr lang="en-US" sz="1100"/>
                    </a:p>
                    <a:p>
                      <a:pPr algn="ctr">
                        <a:lnSpc>
                          <a:spcPts val="3900"/>
                        </a:lnSpc>
                      </a:pPr>
                    </a:p>
                    <a:p>
                      <a:pPr algn="ctr" marL="647700" indent="-323850" lvl="1">
                        <a:lnSpc>
                          <a:spcPts val="3900"/>
                        </a:lnSpc>
                        <a:buFont typeface="Arial"/>
                        <a:buChar char="•"/>
                      </a:pPr>
                      <a:r>
                        <a:rPr lang="en-US" sz="3000" spc="44">
                          <a:solidFill>
                            <a:srgbClr val="191919"/>
                          </a:solidFill>
                          <a:latin typeface="Aileron"/>
                          <a:ea typeface="Aileron"/>
                          <a:cs typeface="Aileron"/>
                          <a:sym typeface="Aileron"/>
                        </a:rPr>
                        <a:t>Ocupación</a:t>
                      </a:r>
                    </a:p>
                    <a:p>
                      <a:pPr algn="ctr" marL="647700" indent="-323850" lvl="1">
                        <a:lnSpc>
                          <a:spcPts val="3900"/>
                        </a:lnSpc>
                        <a:buFont typeface="Arial"/>
                        <a:buChar char="•"/>
                      </a:pPr>
                      <a:r>
                        <a:rPr lang="en-US" sz="3000" spc="44">
                          <a:solidFill>
                            <a:srgbClr val="191919"/>
                          </a:solidFill>
                          <a:latin typeface="Aileron"/>
                          <a:ea typeface="Aileron"/>
                          <a:cs typeface="Aileron"/>
                          <a:sym typeface="Aileron"/>
                        </a:rPr>
                        <a:t>Tipo de empleo</a:t>
                      </a:r>
                    </a:p>
                    <a:p>
                      <a:pPr algn="ctr" marL="647700" indent="-323850" lvl="1">
                        <a:lnSpc>
                          <a:spcPts val="3900"/>
                        </a:lnSpc>
                        <a:buFont typeface="Arial"/>
                        <a:buChar char="•"/>
                      </a:pPr>
                      <a:r>
                        <a:rPr lang="en-US" sz="3000" spc="44">
                          <a:solidFill>
                            <a:srgbClr val="191919"/>
                          </a:solidFill>
                          <a:latin typeface="Aileron"/>
                          <a:ea typeface="Aileron"/>
                          <a:cs typeface="Aileron"/>
                          <a:sym typeface="Aileron"/>
                        </a:rPr>
                        <a:t>Horas trabajadas</a:t>
                      </a:r>
                    </a:p>
                  </a:txBody>
                  <a:tcPr marL="190500" marR="190500" marT="190500" marB="190500" anchor="ctr">
                    <a:lnL cmpd="sng" algn="ctr" cap="flat" w="47625">
                      <a:solidFill>
                        <a:srgbClr val="ED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5">
                      <a:solidFill>
                        <a:srgbClr val="ED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5">
                      <a:solidFill>
                        <a:srgbClr val="ED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5">
                      <a:solidFill>
                        <a:srgbClr val="ED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name="Group 6" id="6"/>
          <p:cNvGrpSpPr/>
          <p:nvPr/>
        </p:nvGrpSpPr>
        <p:grpSpPr>
          <a:xfrm rot="0">
            <a:off x="3132634" y="3565461"/>
            <a:ext cx="1646074" cy="1289115"/>
            <a:chOff x="0" y="0"/>
            <a:chExt cx="433534" cy="33952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33534" cy="339520"/>
            </a:xfrm>
            <a:custGeom>
              <a:avLst/>
              <a:gdLst/>
              <a:ahLst/>
              <a:cxnLst/>
              <a:rect r="r" b="b" t="t" l="l"/>
              <a:pathLst>
                <a:path h="339520" w="433534">
                  <a:moveTo>
                    <a:pt x="70549" y="0"/>
                  </a:moveTo>
                  <a:lnTo>
                    <a:pt x="362985" y="0"/>
                  </a:lnTo>
                  <a:cubicBezTo>
                    <a:pt x="381696" y="0"/>
                    <a:pt x="399640" y="7433"/>
                    <a:pt x="412870" y="20663"/>
                  </a:cubicBezTo>
                  <a:cubicBezTo>
                    <a:pt x="426101" y="33894"/>
                    <a:pt x="433534" y="51838"/>
                    <a:pt x="433534" y="70549"/>
                  </a:cubicBezTo>
                  <a:lnTo>
                    <a:pt x="433534" y="268971"/>
                  </a:lnTo>
                  <a:cubicBezTo>
                    <a:pt x="433534" y="307934"/>
                    <a:pt x="401948" y="339520"/>
                    <a:pt x="362985" y="339520"/>
                  </a:cubicBezTo>
                  <a:lnTo>
                    <a:pt x="70549" y="339520"/>
                  </a:lnTo>
                  <a:cubicBezTo>
                    <a:pt x="51838" y="339520"/>
                    <a:pt x="33894" y="332087"/>
                    <a:pt x="20663" y="318857"/>
                  </a:cubicBezTo>
                  <a:cubicBezTo>
                    <a:pt x="7433" y="305626"/>
                    <a:pt x="0" y="287682"/>
                    <a:pt x="0" y="268971"/>
                  </a:cubicBezTo>
                  <a:lnTo>
                    <a:pt x="0" y="70549"/>
                  </a:lnTo>
                  <a:cubicBezTo>
                    <a:pt x="0" y="31586"/>
                    <a:pt x="31586" y="0"/>
                    <a:pt x="70549" y="0"/>
                  </a:cubicBezTo>
                  <a:close/>
                </a:path>
              </a:pathLst>
            </a:custGeom>
            <a:solidFill>
              <a:srgbClr val="86EAE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28575"/>
              <a:ext cx="433534" cy="368095"/>
            </a:xfrm>
            <a:prstGeom prst="rect">
              <a:avLst/>
            </a:prstGeom>
          </p:spPr>
          <p:txBody>
            <a:bodyPr anchor="ctr" rtlCol="false" tIns="254000" lIns="254000" bIns="254000" rIns="2540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8320963" y="3565461"/>
            <a:ext cx="1646074" cy="1289115"/>
            <a:chOff x="0" y="0"/>
            <a:chExt cx="433534" cy="33952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33534" cy="339520"/>
            </a:xfrm>
            <a:custGeom>
              <a:avLst/>
              <a:gdLst/>
              <a:ahLst/>
              <a:cxnLst/>
              <a:rect r="r" b="b" t="t" l="l"/>
              <a:pathLst>
                <a:path h="339520" w="433534">
                  <a:moveTo>
                    <a:pt x="70549" y="0"/>
                  </a:moveTo>
                  <a:lnTo>
                    <a:pt x="362985" y="0"/>
                  </a:lnTo>
                  <a:cubicBezTo>
                    <a:pt x="381696" y="0"/>
                    <a:pt x="399640" y="7433"/>
                    <a:pt x="412870" y="20663"/>
                  </a:cubicBezTo>
                  <a:cubicBezTo>
                    <a:pt x="426101" y="33894"/>
                    <a:pt x="433534" y="51838"/>
                    <a:pt x="433534" y="70549"/>
                  </a:cubicBezTo>
                  <a:lnTo>
                    <a:pt x="433534" y="268971"/>
                  </a:lnTo>
                  <a:cubicBezTo>
                    <a:pt x="433534" y="307934"/>
                    <a:pt x="401948" y="339520"/>
                    <a:pt x="362985" y="339520"/>
                  </a:cubicBezTo>
                  <a:lnTo>
                    <a:pt x="70549" y="339520"/>
                  </a:lnTo>
                  <a:cubicBezTo>
                    <a:pt x="51838" y="339520"/>
                    <a:pt x="33894" y="332087"/>
                    <a:pt x="20663" y="318857"/>
                  </a:cubicBezTo>
                  <a:cubicBezTo>
                    <a:pt x="7433" y="305626"/>
                    <a:pt x="0" y="287682"/>
                    <a:pt x="0" y="268971"/>
                  </a:cubicBezTo>
                  <a:lnTo>
                    <a:pt x="0" y="70549"/>
                  </a:lnTo>
                  <a:cubicBezTo>
                    <a:pt x="0" y="31586"/>
                    <a:pt x="31586" y="0"/>
                    <a:pt x="70549" y="0"/>
                  </a:cubicBezTo>
                  <a:close/>
                </a:path>
              </a:pathLst>
            </a:custGeom>
            <a:solidFill>
              <a:srgbClr val="3EDAD8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28575"/>
              <a:ext cx="433534" cy="368095"/>
            </a:xfrm>
            <a:prstGeom prst="rect">
              <a:avLst/>
            </a:prstGeom>
          </p:spPr>
          <p:txBody>
            <a:bodyPr anchor="ctr" rtlCol="false" tIns="254000" lIns="254000" bIns="254000" rIns="2540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3873127" y="3565461"/>
            <a:ext cx="1646074" cy="1289115"/>
            <a:chOff x="0" y="0"/>
            <a:chExt cx="433534" cy="33952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33534" cy="339520"/>
            </a:xfrm>
            <a:custGeom>
              <a:avLst/>
              <a:gdLst/>
              <a:ahLst/>
              <a:cxnLst/>
              <a:rect r="r" b="b" t="t" l="l"/>
              <a:pathLst>
                <a:path h="339520" w="433534">
                  <a:moveTo>
                    <a:pt x="70549" y="0"/>
                  </a:moveTo>
                  <a:lnTo>
                    <a:pt x="362985" y="0"/>
                  </a:lnTo>
                  <a:cubicBezTo>
                    <a:pt x="381696" y="0"/>
                    <a:pt x="399640" y="7433"/>
                    <a:pt x="412870" y="20663"/>
                  </a:cubicBezTo>
                  <a:cubicBezTo>
                    <a:pt x="426101" y="33894"/>
                    <a:pt x="433534" y="51838"/>
                    <a:pt x="433534" y="70549"/>
                  </a:cubicBezTo>
                  <a:lnTo>
                    <a:pt x="433534" y="268971"/>
                  </a:lnTo>
                  <a:cubicBezTo>
                    <a:pt x="433534" y="307934"/>
                    <a:pt x="401948" y="339520"/>
                    <a:pt x="362985" y="339520"/>
                  </a:cubicBezTo>
                  <a:lnTo>
                    <a:pt x="70549" y="339520"/>
                  </a:lnTo>
                  <a:cubicBezTo>
                    <a:pt x="51838" y="339520"/>
                    <a:pt x="33894" y="332087"/>
                    <a:pt x="20663" y="318857"/>
                  </a:cubicBezTo>
                  <a:cubicBezTo>
                    <a:pt x="7433" y="305626"/>
                    <a:pt x="0" y="287682"/>
                    <a:pt x="0" y="268971"/>
                  </a:cubicBezTo>
                  <a:lnTo>
                    <a:pt x="0" y="70549"/>
                  </a:lnTo>
                  <a:cubicBezTo>
                    <a:pt x="0" y="31586"/>
                    <a:pt x="31586" y="0"/>
                    <a:pt x="70549" y="0"/>
                  </a:cubicBezTo>
                  <a:close/>
                </a:path>
              </a:pathLst>
            </a:custGeom>
            <a:solidFill>
              <a:srgbClr val="37C9EF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28575"/>
              <a:ext cx="433534" cy="368095"/>
            </a:xfrm>
            <a:prstGeom prst="rect">
              <a:avLst/>
            </a:prstGeom>
          </p:spPr>
          <p:txBody>
            <a:bodyPr anchor="ctr" rtlCol="false" tIns="254000" lIns="254000" bIns="254000" rIns="2540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3132634" y="3643248"/>
            <a:ext cx="1646074" cy="1019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b="true" sz="5999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1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8320963" y="3643248"/>
            <a:ext cx="1646074" cy="1019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b="true" sz="5999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2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3873127" y="3643248"/>
            <a:ext cx="1646074" cy="1019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b="true" sz="5999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3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4912" y="2647315"/>
            <a:ext cx="5087513" cy="5087513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952500" cap="sq">
              <a:solidFill>
                <a:srgbClr val="37C9EF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822906" y="2561245"/>
            <a:ext cx="2098258" cy="2098258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95250" cap="sq">
              <a:solidFill>
                <a:srgbClr val="37C9EF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76200" y="190500"/>
              <a:ext cx="660400" cy="5461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799"/>
                </a:lnSpc>
              </a:pPr>
              <a:r>
                <a:rPr lang="en-US" b="true" sz="5799">
                  <a:solidFill>
                    <a:srgbClr val="2C92D5"/>
                  </a:solidFill>
                  <a:latin typeface="Aileron Ultra-Bold"/>
                  <a:ea typeface="Aileron Ultra-Bold"/>
                  <a:cs typeface="Aileron Ultra-Bold"/>
                  <a:sym typeface="Aileron Ultra-Bold"/>
                </a:rPr>
                <a:t>E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0366836" y="2561245"/>
            <a:ext cx="2098258" cy="2098258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95250" cap="sq">
              <a:solidFill>
                <a:srgbClr val="37C9EF"/>
              </a:solidFill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76200" y="190500"/>
              <a:ext cx="660400" cy="5461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799"/>
                </a:lnSpc>
              </a:pPr>
              <a:r>
                <a:rPr lang="en-US" b="true" sz="5799">
                  <a:solidFill>
                    <a:srgbClr val="2C92D5"/>
                  </a:solidFill>
                  <a:latin typeface="Aileron Ultra-Bold"/>
                  <a:ea typeface="Aileron Ultra-Bold"/>
                  <a:cs typeface="Aileron Ultra-Bold"/>
                  <a:sym typeface="Aileron Ultra-Bold"/>
                </a:rPr>
                <a:t>R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5822906" y="5627497"/>
            <a:ext cx="2098258" cy="2098258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95250" cap="sq">
              <a:solidFill>
                <a:srgbClr val="37C9EF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76200" y="190500"/>
              <a:ext cx="660400" cy="5461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799"/>
                </a:lnSpc>
              </a:pPr>
              <a:r>
                <a:rPr lang="en-US" b="true" sz="5799">
                  <a:solidFill>
                    <a:srgbClr val="2C92D5"/>
                  </a:solidFill>
                  <a:latin typeface="Aileron Heavy"/>
                  <a:ea typeface="Aileron Heavy"/>
                  <a:cs typeface="Aileron Heavy"/>
                  <a:sym typeface="Aileron Heavy"/>
                </a:rPr>
                <a:t>A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0366836" y="5627497"/>
            <a:ext cx="2098258" cy="2098258"/>
            <a:chOff x="0" y="0"/>
            <a:chExt cx="812800" cy="8128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95250" cap="sq">
              <a:solidFill>
                <a:srgbClr val="37C9EF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76200" y="190500"/>
              <a:ext cx="660400" cy="5461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799"/>
                </a:lnSpc>
              </a:pPr>
              <a:r>
                <a:rPr lang="en-US" b="true" sz="5799">
                  <a:solidFill>
                    <a:srgbClr val="2C92D5"/>
                  </a:solidFill>
                  <a:latin typeface="Aileron Ultra-Bold"/>
                  <a:ea typeface="Aileron Ultra-Bold"/>
                  <a:cs typeface="Aileron Ultra-Bold"/>
                  <a:sym typeface="Aileron Ultra-Bold"/>
                </a:rPr>
                <a:t>C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028700" y="2812683"/>
            <a:ext cx="4322943" cy="946884"/>
            <a:chOff x="0" y="0"/>
            <a:chExt cx="5763925" cy="1262512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-28575"/>
              <a:ext cx="5763925" cy="59080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>
                <a:lnSpc>
                  <a:spcPts val="3640"/>
                </a:lnSpc>
              </a:pPr>
              <a:r>
                <a:rPr lang="en-US" b="true" sz="2800" spc="84">
                  <a:solidFill>
                    <a:srgbClr val="2C92D5"/>
                  </a:solidFill>
                  <a:latin typeface="Aileron Bold"/>
                  <a:ea typeface="Aileron Bold"/>
                  <a:cs typeface="Aileron Bold"/>
                  <a:sym typeface="Aileron Bold"/>
                </a:rPr>
                <a:t>ESTANDARIZACIÓN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778131"/>
              <a:ext cx="5763925" cy="48438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>
                <a:lnSpc>
                  <a:spcPts val="3080"/>
                </a:lnSpc>
              </a:pPr>
              <a:r>
                <a:rPr lang="en-US" sz="2200" spc="33">
                  <a:solidFill>
                    <a:srgbClr val="191919"/>
                  </a:solidFill>
                  <a:latin typeface="Aileron"/>
                  <a:ea typeface="Aileron"/>
                  <a:cs typeface="Aileron"/>
                  <a:sym typeface="Aileron"/>
                </a:rPr>
                <a:t>Estandarización de los datos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3068300" y="2812683"/>
            <a:ext cx="4191000" cy="946884"/>
            <a:chOff x="0" y="0"/>
            <a:chExt cx="5588000" cy="1262512"/>
          </a:xfrm>
        </p:grpSpPr>
        <p:sp>
          <p:nvSpPr>
            <p:cNvPr name="TextBox 21" id="21"/>
            <p:cNvSpPr txBox="true"/>
            <p:nvPr/>
          </p:nvSpPr>
          <p:spPr>
            <a:xfrm rot="0">
              <a:off x="0" y="-28575"/>
              <a:ext cx="5588000" cy="59080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b="true" sz="2800" spc="84">
                  <a:solidFill>
                    <a:srgbClr val="2C92D5"/>
                  </a:solidFill>
                  <a:latin typeface="Aileron Bold"/>
                  <a:ea typeface="Aileron Bold"/>
                  <a:cs typeface="Aileron Bold"/>
                  <a:sym typeface="Aileron Bold"/>
                </a:rPr>
                <a:t>RECODIFICACIÓN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0" y="778131"/>
              <a:ext cx="5588000" cy="48438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080"/>
                </a:lnSpc>
              </a:pPr>
              <a:r>
                <a:rPr lang="en-US" sz="2200" spc="33">
                  <a:solidFill>
                    <a:srgbClr val="191919"/>
                  </a:solidFill>
                  <a:latin typeface="Aileron"/>
                  <a:ea typeface="Aileron"/>
                  <a:cs typeface="Aileron"/>
                  <a:sym typeface="Aileron"/>
                </a:rPr>
                <a:t>Recodificación de categorías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028700" y="6527433"/>
            <a:ext cx="4322943" cy="946884"/>
            <a:chOff x="0" y="0"/>
            <a:chExt cx="5763925" cy="1262512"/>
          </a:xfrm>
        </p:grpSpPr>
        <p:sp>
          <p:nvSpPr>
            <p:cNvPr name="TextBox 24" id="24"/>
            <p:cNvSpPr txBox="true"/>
            <p:nvPr/>
          </p:nvSpPr>
          <p:spPr>
            <a:xfrm rot="0">
              <a:off x="0" y="-28575"/>
              <a:ext cx="5763925" cy="59080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>
                <a:lnSpc>
                  <a:spcPts val="3640"/>
                </a:lnSpc>
              </a:pPr>
              <a:r>
                <a:rPr lang="en-US" b="true" sz="2800" spc="84">
                  <a:solidFill>
                    <a:srgbClr val="2C92D5"/>
                  </a:solidFill>
                  <a:latin typeface="Aileron Bold"/>
                  <a:ea typeface="Aileron Bold"/>
                  <a:cs typeface="Aileron Bold"/>
                  <a:sym typeface="Aileron Bold"/>
                </a:rPr>
                <a:t>AGRUPACIÓN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0" y="778131"/>
              <a:ext cx="5763925" cy="48438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>
                <a:lnSpc>
                  <a:spcPts val="3080"/>
                </a:lnSpc>
              </a:pPr>
              <a:r>
                <a:rPr lang="en-US" sz="2200" spc="33">
                  <a:solidFill>
                    <a:srgbClr val="191919"/>
                  </a:solidFill>
                  <a:latin typeface="Aileron"/>
                  <a:ea typeface="Aileron"/>
                  <a:cs typeface="Aileron"/>
                  <a:sym typeface="Aileron"/>
                </a:rPr>
                <a:t>Agrupación de raza y país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3068300" y="6527433"/>
            <a:ext cx="4191000" cy="946884"/>
            <a:chOff x="0" y="0"/>
            <a:chExt cx="5588000" cy="1262512"/>
          </a:xfrm>
        </p:grpSpPr>
        <p:sp>
          <p:nvSpPr>
            <p:cNvPr name="TextBox 27" id="27"/>
            <p:cNvSpPr txBox="true"/>
            <p:nvPr/>
          </p:nvSpPr>
          <p:spPr>
            <a:xfrm rot="0">
              <a:off x="0" y="-28575"/>
              <a:ext cx="5588000" cy="59080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b="true" sz="2800" spc="84">
                  <a:solidFill>
                    <a:srgbClr val="2C92D5"/>
                  </a:solidFill>
                  <a:latin typeface="Aileron Bold"/>
                  <a:ea typeface="Aileron Bold"/>
                  <a:cs typeface="Aileron Bold"/>
                  <a:sym typeface="Aileron Bold"/>
                </a:rPr>
                <a:t>CREACIÓN</a:t>
              </a:r>
            </a:p>
          </p:txBody>
        </p:sp>
        <p:sp>
          <p:nvSpPr>
            <p:cNvPr name="TextBox 28" id="28"/>
            <p:cNvSpPr txBox="true"/>
            <p:nvPr/>
          </p:nvSpPr>
          <p:spPr>
            <a:xfrm rot="0">
              <a:off x="0" y="778131"/>
              <a:ext cx="5588000" cy="48438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080"/>
                </a:lnSpc>
              </a:pPr>
              <a:r>
                <a:rPr lang="en-US" sz="2200" spc="33">
                  <a:solidFill>
                    <a:srgbClr val="191919"/>
                  </a:solidFill>
                  <a:latin typeface="Aileron"/>
                  <a:ea typeface="Aileron"/>
                  <a:cs typeface="Aileron"/>
                  <a:sym typeface="Aileron"/>
                </a:rPr>
                <a:t>Creación de nuevas variables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485514" y="1608363"/>
            <a:ext cx="12773786" cy="8382228"/>
          </a:xfrm>
          <a:custGeom>
            <a:avLst/>
            <a:gdLst/>
            <a:ahLst/>
            <a:cxnLst/>
            <a:rect r="r" b="b" t="t" l="l"/>
            <a:pathLst>
              <a:path h="8382228" w="12773786">
                <a:moveTo>
                  <a:pt x="0" y="0"/>
                </a:moveTo>
                <a:lnTo>
                  <a:pt x="12773786" y="0"/>
                </a:lnTo>
                <a:lnTo>
                  <a:pt x="12773786" y="8382228"/>
                </a:lnTo>
                <a:lnTo>
                  <a:pt x="0" y="838222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58926" y="6126739"/>
            <a:ext cx="2600904" cy="171590"/>
          </a:xfrm>
          <a:custGeom>
            <a:avLst/>
            <a:gdLst/>
            <a:ahLst/>
            <a:cxnLst/>
            <a:rect r="r" b="b" t="t" l="l"/>
            <a:pathLst>
              <a:path h="171590" w="2600904">
                <a:moveTo>
                  <a:pt x="0" y="0"/>
                </a:moveTo>
                <a:lnTo>
                  <a:pt x="2600904" y="0"/>
                </a:lnTo>
                <a:lnTo>
                  <a:pt x="2600904" y="171591"/>
                </a:lnTo>
                <a:lnTo>
                  <a:pt x="0" y="17159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4000"/>
            </a:blip>
            <a:stretch>
              <a:fillRect l="0" t="-73623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3006728" y="5478666"/>
            <a:ext cx="1171277" cy="3162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b="true">
                <a:solidFill>
                  <a:srgbClr val="FFFFFF"/>
                </a:solidFill>
                <a:latin typeface="TT Hoves Bold"/>
                <a:ea typeface="TT Hoves Bold"/>
                <a:cs typeface="TT Hoves Bold"/>
                <a:sym typeface="TT Hoves Bold"/>
              </a:rPr>
              <a:t>Phase 01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108831" y="3623540"/>
            <a:ext cx="2901093" cy="3039921"/>
            <a:chOff x="0" y="0"/>
            <a:chExt cx="764074" cy="80063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64074" cy="800638"/>
            </a:xfrm>
            <a:custGeom>
              <a:avLst/>
              <a:gdLst/>
              <a:ahLst/>
              <a:cxnLst/>
              <a:rect r="r" b="b" t="t" l="l"/>
              <a:pathLst>
                <a:path h="800638" w="764074">
                  <a:moveTo>
                    <a:pt x="53372" y="0"/>
                  </a:moveTo>
                  <a:lnTo>
                    <a:pt x="710701" y="0"/>
                  </a:lnTo>
                  <a:cubicBezTo>
                    <a:pt x="724857" y="0"/>
                    <a:pt x="738432" y="5623"/>
                    <a:pt x="748441" y="15632"/>
                  </a:cubicBezTo>
                  <a:cubicBezTo>
                    <a:pt x="758451" y="25642"/>
                    <a:pt x="764074" y="39217"/>
                    <a:pt x="764074" y="53372"/>
                  </a:cubicBezTo>
                  <a:lnTo>
                    <a:pt x="764074" y="747265"/>
                  </a:lnTo>
                  <a:cubicBezTo>
                    <a:pt x="764074" y="776742"/>
                    <a:pt x="740178" y="800638"/>
                    <a:pt x="710701" y="800638"/>
                  </a:cubicBezTo>
                  <a:lnTo>
                    <a:pt x="53372" y="800638"/>
                  </a:lnTo>
                  <a:cubicBezTo>
                    <a:pt x="23896" y="800638"/>
                    <a:pt x="0" y="776742"/>
                    <a:pt x="0" y="747265"/>
                  </a:cubicBezTo>
                  <a:lnTo>
                    <a:pt x="0" y="53372"/>
                  </a:lnTo>
                  <a:cubicBezTo>
                    <a:pt x="0" y="23896"/>
                    <a:pt x="23896" y="0"/>
                    <a:pt x="5337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764074" cy="8482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1079177" y="2375312"/>
            <a:ext cx="3176949" cy="2030804"/>
          </a:xfrm>
          <a:custGeom>
            <a:avLst/>
            <a:gdLst/>
            <a:ahLst/>
            <a:cxnLst/>
            <a:rect r="r" b="b" t="t" l="l"/>
            <a:pathLst>
              <a:path h="2030804" w="3176949">
                <a:moveTo>
                  <a:pt x="0" y="0"/>
                </a:moveTo>
                <a:lnTo>
                  <a:pt x="3176949" y="0"/>
                </a:lnTo>
                <a:lnTo>
                  <a:pt x="3176949" y="2030804"/>
                </a:lnTo>
                <a:lnTo>
                  <a:pt x="0" y="203080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936120" y="2577564"/>
            <a:ext cx="1463062" cy="481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>
                <a:solidFill>
                  <a:srgbClr val="292F56"/>
                </a:solidFill>
                <a:latin typeface="TT Hoves Bold"/>
                <a:ea typeface="TT Hoves Bold"/>
                <a:cs typeface="TT Hoves Bold"/>
                <a:sym typeface="TT Hoves Bold"/>
              </a:rPr>
              <a:t>01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258926" y="4891029"/>
            <a:ext cx="2997200" cy="816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Relación positiva Clara</a:t>
            </a:r>
          </a:p>
          <a:p>
            <a:pPr algn="just">
              <a:lnSpc>
                <a:spcPts val="2239"/>
              </a:lnSpc>
            </a:pPr>
          </a:p>
          <a:p>
            <a:pPr algn="just" marL="0" indent="0" lvl="0">
              <a:lnSpc>
                <a:spcPts val="2239"/>
              </a:lnSpc>
              <a:spcBef>
                <a:spcPct val="0"/>
              </a:spcBef>
            </a:pPr>
            <a:r>
              <a:rPr lang="en-US" sz="1599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Mayor educación – más &gt; 50k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385602" y="3872635"/>
            <a:ext cx="2347551" cy="6305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292F56"/>
                </a:solidFill>
                <a:latin typeface="TT Hoves Bold"/>
                <a:ea typeface="TT Hoves Bold"/>
                <a:cs typeface="TT Hoves Bold"/>
                <a:sym typeface="TT Hoves Bold"/>
              </a:rPr>
              <a:t>Educación VS Ingresos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1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945810" y="3713484"/>
            <a:ext cx="5544080" cy="1299761"/>
            <a:chOff x="0" y="0"/>
            <a:chExt cx="1445080" cy="33878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45080" cy="338786"/>
            </a:xfrm>
            <a:custGeom>
              <a:avLst/>
              <a:gdLst/>
              <a:ahLst/>
              <a:cxnLst/>
              <a:rect r="r" b="b" t="t" l="l"/>
              <a:pathLst>
                <a:path h="338786" w="1445080">
                  <a:moveTo>
                    <a:pt x="0" y="0"/>
                  </a:moveTo>
                  <a:lnTo>
                    <a:pt x="1445080" y="0"/>
                  </a:lnTo>
                  <a:lnTo>
                    <a:pt x="1445080" y="338786"/>
                  </a:lnTo>
                  <a:lnTo>
                    <a:pt x="0" y="338786"/>
                  </a:lnTo>
                  <a:close/>
                </a:path>
              </a:pathLst>
            </a:custGeom>
            <a:solidFill>
              <a:srgbClr val="292F56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1445080" cy="357836"/>
            </a:xfrm>
            <a:prstGeom prst="rect">
              <a:avLst/>
            </a:prstGeom>
          </p:spPr>
          <p:txBody>
            <a:bodyPr anchor="ctr" rtlCol="false" tIns="43615" lIns="43615" bIns="43615" rIns="43615"/>
            <a:lstStyle/>
            <a:p>
              <a:pPr algn="ctr" marL="0" indent="0" lvl="0">
                <a:lnSpc>
                  <a:spcPts val="2163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2045455" y="3088796"/>
            <a:ext cx="1842558" cy="1924449"/>
            <a:chOff x="0" y="0"/>
            <a:chExt cx="571500" cy="5969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71500" cy="596900"/>
            </a:xfrm>
            <a:custGeom>
              <a:avLst/>
              <a:gdLst/>
              <a:ahLst/>
              <a:cxnLst/>
              <a:rect r="r" b="b" t="t" l="l"/>
              <a:pathLst>
                <a:path h="596900" w="571500">
                  <a:moveTo>
                    <a:pt x="571500" y="596900"/>
                  </a:moveTo>
                  <a:lnTo>
                    <a:pt x="0" y="596900"/>
                  </a:lnTo>
                  <a:lnTo>
                    <a:pt x="0" y="0"/>
                  </a:lnTo>
                  <a:lnTo>
                    <a:pt x="571500" y="596900"/>
                  </a:lnTo>
                  <a:close/>
                </a:path>
              </a:pathLst>
            </a:custGeom>
            <a:solidFill>
              <a:srgbClr val="292F56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279400"/>
              <a:ext cx="285750" cy="317500"/>
            </a:xfrm>
            <a:prstGeom prst="rect">
              <a:avLst/>
            </a:prstGeom>
          </p:spPr>
          <p:txBody>
            <a:bodyPr anchor="ctr" rtlCol="false" tIns="43615" lIns="43615" bIns="43615" rIns="43615"/>
            <a:lstStyle/>
            <a:p>
              <a:pPr algn="ctr" marL="0" indent="0" lvl="0">
                <a:lnSpc>
                  <a:spcPts val="2163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945810" y="5159780"/>
            <a:ext cx="5544080" cy="1299761"/>
            <a:chOff x="0" y="0"/>
            <a:chExt cx="1445080" cy="33878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445080" cy="338786"/>
            </a:xfrm>
            <a:custGeom>
              <a:avLst/>
              <a:gdLst/>
              <a:ahLst/>
              <a:cxnLst/>
              <a:rect r="r" b="b" t="t" l="l"/>
              <a:pathLst>
                <a:path h="338786" w="1445080">
                  <a:moveTo>
                    <a:pt x="0" y="0"/>
                  </a:moveTo>
                  <a:lnTo>
                    <a:pt x="1445080" y="0"/>
                  </a:lnTo>
                  <a:lnTo>
                    <a:pt x="1445080" y="338786"/>
                  </a:lnTo>
                  <a:lnTo>
                    <a:pt x="0" y="338786"/>
                  </a:lnTo>
                  <a:close/>
                </a:path>
              </a:pathLst>
            </a:custGeom>
            <a:solidFill>
              <a:srgbClr val="00889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1445080" cy="357836"/>
            </a:xfrm>
            <a:prstGeom prst="rect">
              <a:avLst/>
            </a:prstGeom>
          </p:spPr>
          <p:txBody>
            <a:bodyPr anchor="ctr" rtlCol="false" tIns="43615" lIns="43615" bIns="43615" rIns="43615"/>
            <a:lstStyle/>
            <a:p>
              <a:pPr algn="ctr" marL="0" indent="0" lvl="0">
                <a:lnSpc>
                  <a:spcPts val="2163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5400000">
            <a:off x="12084658" y="5104297"/>
            <a:ext cx="1764151" cy="1842558"/>
            <a:chOff x="0" y="0"/>
            <a:chExt cx="571500" cy="5969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571500" cy="596900"/>
            </a:xfrm>
            <a:custGeom>
              <a:avLst/>
              <a:gdLst/>
              <a:ahLst/>
              <a:cxnLst/>
              <a:rect r="r" b="b" t="t" l="l"/>
              <a:pathLst>
                <a:path h="596900" w="571500">
                  <a:moveTo>
                    <a:pt x="571500" y="596900"/>
                  </a:moveTo>
                  <a:lnTo>
                    <a:pt x="0" y="596900"/>
                  </a:lnTo>
                  <a:lnTo>
                    <a:pt x="0" y="0"/>
                  </a:lnTo>
                  <a:lnTo>
                    <a:pt x="571500" y="596900"/>
                  </a:lnTo>
                  <a:close/>
                </a:path>
              </a:pathLst>
            </a:custGeom>
            <a:solidFill>
              <a:srgbClr val="00889F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279400"/>
              <a:ext cx="285750" cy="317500"/>
            </a:xfrm>
            <a:prstGeom prst="rect">
              <a:avLst/>
            </a:prstGeom>
          </p:spPr>
          <p:txBody>
            <a:bodyPr anchor="ctr" rtlCol="false" tIns="43615" lIns="43615" bIns="43615" rIns="43615"/>
            <a:lstStyle/>
            <a:p>
              <a:pPr algn="ctr" marL="0" indent="0" lvl="0">
                <a:lnSpc>
                  <a:spcPts val="2163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3964454" y="2419855"/>
            <a:ext cx="5454107" cy="5447290"/>
          </a:xfrm>
          <a:custGeom>
            <a:avLst/>
            <a:gdLst/>
            <a:ahLst/>
            <a:cxnLst/>
            <a:rect r="r" b="b" t="t" l="l"/>
            <a:pathLst>
              <a:path h="5447290" w="5454107">
                <a:moveTo>
                  <a:pt x="0" y="0"/>
                </a:moveTo>
                <a:lnTo>
                  <a:pt x="5454107" y="0"/>
                </a:lnTo>
                <a:lnTo>
                  <a:pt x="5454107" y="5447290"/>
                </a:lnTo>
                <a:lnTo>
                  <a:pt x="0" y="54472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15" id="15"/>
          <p:cNvGrpSpPr/>
          <p:nvPr/>
        </p:nvGrpSpPr>
        <p:grpSpPr>
          <a:xfrm rot="0">
            <a:off x="3964454" y="2996067"/>
            <a:ext cx="4563933" cy="4563933"/>
            <a:chOff x="0" y="0"/>
            <a:chExt cx="812800" cy="812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76200" y="0"/>
              <a:ext cx="660400" cy="736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039"/>
                </a:lnSpc>
              </a:pPr>
              <a:r>
                <a:rPr lang="en-US" sz="3599" b="true">
                  <a:solidFill>
                    <a:srgbClr val="292F56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TEST CHI CUADRADO</a:t>
              </a:r>
            </a:p>
            <a:p>
              <a:pPr algn="ctr" marL="0" indent="0" lvl="0">
                <a:lnSpc>
                  <a:spcPts val="5039"/>
                </a:lnSpc>
                <a:spcBef>
                  <a:spcPct val="0"/>
                </a:spcBef>
              </a:pPr>
              <a:r>
                <a:rPr lang="en-US" b="true" sz="3599">
                  <a:solidFill>
                    <a:srgbClr val="292F56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(Educación VS Ingreso)</a:t>
              </a:r>
            </a:p>
          </p:txBody>
        </p:sp>
      </p:grpSp>
      <p:sp>
        <p:nvSpPr>
          <p:cNvPr name="Freeform 18" id="18"/>
          <p:cNvSpPr/>
          <p:nvPr/>
        </p:nvSpPr>
        <p:spPr>
          <a:xfrm flipH="false" flipV="false" rot="0">
            <a:off x="7875610" y="7205402"/>
            <a:ext cx="5374871" cy="354598"/>
          </a:xfrm>
          <a:custGeom>
            <a:avLst/>
            <a:gdLst/>
            <a:ahLst/>
            <a:cxnLst/>
            <a:rect r="r" b="b" t="t" l="l"/>
            <a:pathLst>
              <a:path h="354598" w="5374871">
                <a:moveTo>
                  <a:pt x="0" y="0"/>
                </a:moveTo>
                <a:lnTo>
                  <a:pt x="5374870" y="0"/>
                </a:lnTo>
                <a:lnTo>
                  <a:pt x="5374870" y="354599"/>
                </a:lnTo>
                <a:lnTo>
                  <a:pt x="0" y="35459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9000"/>
            </a:blip>
            <a:stretch>
              <a:fillRect l="0" t="-73623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9064027" y="4125650"/>
            <a:ext cx="2135209" cy="437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797"/>
              </a:lnSpc>
              <a:spcBef>
                <a:spcPct val="0"/>
              </a:spcBef>
            </a:pPr>
            <a:r>
              <a:rPr lang="en-US" b="true" sz="2712">
                <a:solidFill>
                  <a:srgbClr val="FFFFFF"/>
                </a:solidFill>
                <a:latin typeface="TT Hoves Bold"/>
                <a:ea typeface="TT Hoves Bold"/>
                <a:cs typeface="TT Hoves Bold"/>
                <a:sym typeface="TT Hoves Bold"/>
              </a:rPr>
              <a:t>χ² = 4428,40</a:t>
            </a:r>
          </a:p>
        </p:txBody>
      </p:sp>
      <p:sp>
        <p:nvSpPr>
          <p:cNvPr name="Freeform 20" id="20"/>
          <p:cNvSpPr/>
          <p:nvPr/>
        </p:nvSpPr>
        <p:spPr>
          <a:xfrm flipH="false" flipV="false" rot="0">
            <a:off x="11840112" y="4029989"/>
            <a:ext cx="649778" cy="666750"/>
          </a:xfrm>
          <a:custGeom>
            <a:avLst/>
            <a:gdLst/>
            <a:ahLst/>
            <a:cxnLst/>
            <a:rect r="r" b="b" t="t" l="l"/>
            <a:pathLst>
              <a:path h="666750" w="649778">
                <a:moveTo>
                  <a:pt x="0" y="0"/>
                </a:moveTo>
                <a:lnTo>
                  <a:pt x="649778" y="0"/>
                </a:lnTo>
                <a:lnTo>
                  <a:pt x="649778" y="666750"/>
                </a:lnTo>
                <a:lnTo>
                  <a:pt x="0" y="6667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21" id="21"/>
          <p:cNvSpPr/>
          <p:nvPr/>
        </p:nvSpPr>
        <p:spPr>
          <a:xfrm flipH="false" flipV="false" rot="0">
            <a:off x="11772640" y="5476286"/>
            <a:ext cx="569768" cy="666750"/>
          </a:xfrm>
          <a:custGeom>
            <a:avLst/>
            <a:gdLst/>
            <a:ahLst/>
            <a:cxnLst/>
            <a:rect r="r" b="b" t="t" l="l"/>
            <a:pathLst>
              <a:path h="666750" w="569768">
                <a:moveTo>
                  <a:pt x="0" y="0"/>
                </a:moveTo>
                <a:lnTo>
                  <a:pt x="569768" y="0"/>
                </a:lnTo>
                <a:lnTo>
                  <a:pt x="569768" y="666750"/>
                </a:lnTo>
                <a:lnTo>
                  <a:pt x="0" y="66675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22" id="22"/>
          <p:cNvSpPr txBox="true"/>
          <p:nvPr/>
        </p:nvSpPr>
        <p:spPr>
          <a:xfrm rot="0">
            <a:off x="9000600" y="5527841"/>
            <a:ext cx="5544080" cy="4454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797"/>
              </a:lnSpc>
              <a:spcBef>
                <a:spcPct val="0"/>
              </a:spcBef>
            </a:pPr>
            <a:r>
              <a:rPr lang="en-US" b="true" sz="2712" strike="noStrike" u="none">
                <a:solidFill>
                  <a:srgbClr val="FFFFFF"/>
                </a:solidFill>
                <a:latin typeface="TT Hoves Bold"/>
                <a:ea typeface="TT Hoves Bold"/>
                <a:cs typeface="TT Hoves Bold"/>
                <a:sym typeface="TT Hoves Bold"/>
              </a:rPr>
              <a:t>p-valor &lt; 0,001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008912" y="1028700"/>
            <a:ext cx="10724648" cy="8509574"/>
          </a:xfrm>
          <a:custGeom>
            <a:avLst/>
            <a:gdLst/>
            <a:ahLst/>
            <a:cxnLst/>
            <a:rect r="r" b="b" t="t" l="l"/>
            <a:pathLst>
              <a:path h="8509574" w="10724648">
                <a:moveTo>
                  <a:pt x="0" y="0"/>
                </a:moveTo>
                <a:lnTo>
                  <a:pt x="10724648" y="0"/>
                </a:lnTo>
                <a:lnTo>
                  <a:pt x="10724648" y="8509574"/>
                </a:lnTo>
                <a:lnTo>
                  <a:pt x="0" y="85095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2205394" y="7115984"/>
            <a:ext cx="2600904" cy="171590"/>
          </a:xfrm>
          <a:custGeom>
            <a:avLst/>
            <a:gdLst/>
            <a:ahLst/>
            <a:cxnLst/>
            <a:rect r="r" b="b" t="t" l="l"/>
            <a:pathLst>
              <a:path h="171590" w="2600904">
                <a:moveTo>
                  <a:pt x="0" y="0"/>
                </a:moveTo>
                <a:lnTo>
                  <a:pt x="2600904" y="0"/>
                </a:lnTo>
                <a:lnTo>
                  <a:pt x="2600904" y="171590"/>
                </a:lnTo>
                <a:lnTo>
                  <a:pt x="0" y="17159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4000"/>
            </a:blip>
            <a:stretch>
              <a:fillRect l="0" t="-73623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905498" y="3970916"/>
            <a:ext cx="3401767" cy="3564554"/>
            <a:chOff x="0" y="0"/>
            <a:chExt cx="764074" cy="80063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64074" cy="800638"/>
            </a:xfrm>
            <a:custGeom>
              <a:avLst/>
              <a:gdLst/>
              <a:ahLst/>
              <a:cxnLst/>
              <a:rect r="r" b="b" t="t" l="l"/>
              <a:pathLst>
                <a:path h="800638" w="764074">
                  <a:moveTo>
                    <a:pt x="45517" y="0"/>
                  </a:moveTo>
                  <a:lnTo>
                    <a:pt x="718557" y="0"/>
                  </a:lnTo>
                  <a:cubicBezTo>
                    <a:pt x="730629" y="0"/>
                    <a:pt x="742206" y="4796"/>
                    <a:pt x="750742" y="13332"/>
                  </a:cubicBezTo>
                  <a:cubicBezTo>
                    <a:pt x="759278" y="21868"/>
                    <a:pt x="764074" y="33445"/>
                    <a:pt x="764074" y="45517"/>
                  </a:cubicBezTo>
                  <a:lnTo>
                    <a:pt x="764074" y="755120"/>
                  </a:lnTo>
                  <a:cubicBezTo>
                    <a:pt x="764074" y="780259"/>
                    <a:pt x="743695" y="800638"/>
                    <a:pt x="718557" y="800638"/>
                  </a:cubicBezTo>
                  <a:lnTo>
                    <a:pt x="45517" y="800638"/>
                  </a:lnTo>
                  <a:cubicBezTo>
                    <a:pt x="20379" y="800638"/>
                    <a:pt x="0" y="780259"/>
                    <a:pt x="0" y="755120"/>
                  </a:cubicBezTo>
                  <a:lnTo>
                    <a:pt x="0" y="45517"/>
                  </a:lnTo>
                  <a:cubicBezTo>
                    <a:pt x="0" y="20379"/>
                    <a:pt x="20379" y="0"/>
                    <a:pt x="45517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764074" cy="8482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1870726" y="2507267"/>
            <a:ext cx="3725231" cy="2381282"/>
          </a:xfrm>
          <a:custGeom>
            <a:avLst/>
            <a:gdLst/>
            <a:ahLst/>
            <a:cxnLst/>
            <a:rect r="r" b="b" t="t" l="l"/>
            <a:pathLst>
              <a:path h="2381282" w="3725231">
                <a:moveTo>
                  <a:pt x="0" y="0"/>
                </a:moveTo>
                <a:lnTo>
                  <a:pt x="3725230" y="0"/>
                </a:lnTo>
                <a:lnTo>
                  <a:pt x="3725230" y="2381282"/>
                </a:lnTo>
                <a:lnTo>
                  <a:pt x="0" y="238128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2875562" y="2740280"/>
            <a:ext cx="1715559" cy="5545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596"/>
              </a:lnSpc>
              <a:spcBef>
                <a:spcPct val="0"/>
              </a:spcBef>
            </a:pPr>
            <a:r>
              <a:rPr lang="en-US" b="true" sz="3283">
                <a:solidFill>
                  <a:srgbClr val="292F56"/>
                </a:solidFill>
                <a:latin typeface="TT Hoves Bold"/>
                <a:ea typeface="TT Hoves Bold"/>
                <a:cs typeface="TT Hoves Bold"/>
                <a:sym typeface="TT Hoves Bold"/>
              </a:rPr>
              <a:t>01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081496" y="5443032"/>
            <a:ext cx="3514461" cy="19433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626"/>
              </a:lnSpc>
            </a:pPr>
            <a:r>
              <a:rPr lang="en-US" sz="1876" spc="28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Mayores ingresos – Mayor edad media</a:t>
            </a:r>
          </a:p>
          <a:p>
            <a:pPr algn="just">
              <a:lnSpc>
                <a:spcPts val="2626"/>
              </a:lnSpc>
            </a:pPr>
          </a:p>
          <a:p>
            <a:pPr algn="just">
              <a:lnSpc>
                <a:spcPts val="2626"/>
              </a:lnSpc>
            </a:pPr>
            <a:r>
              <a:rPr lang="en-US" sz="1876" spc="28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Diferencias significativas</a:t>
            </a:r>
          </a:p>
          <a:p>
            <a:pPr algn="just">
              <a:lnSpc>
                <a:spcPts val="2626"/>
              </a:lnSpc>
            </a:pPr>
          </a:p>
          <a:p>
            <a:pPr algn="just" marL="0" indent="0" lvl="0">
              <a:lnSpc>
                <a:spcPts val="2626"/>
              </a:lnSpc>
              <a:spcBef>
                <a:spcPct val="0"/>
              </a:spcBef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2230035" y="4280744"/>
            <a:ext cx="2752694" cy="7216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954"/>
              </a:lnSpc>
              <a:spcBef>
                <a:spcPct val="0"/>
              </a:spcBef>
            </a:pPr>
            <a:r>
              <a:rPr lang="en-US" b="true" sz="2110">
                <a:solidFill>
                  <a:srgbClr val="292F56"/>
                </a:solidFill>
                <a:latin typeface="TT Hoves Bold"/>
                <a:ea typeface="TT Hoves Bold"/>
                <a:cs typeface="TT Hoves Bold"/>
                <a:sym typeface="TT Hoves Bold"/>
              </a:rPr>
              <a:t>Edad y niveles de ingresos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1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945810" y="3713484"/>
            <a:ext cx="5544080" cy="1299761"/>
            <a:chOff x="0" y="0"/>
            <a:chExt cx="1445080" cy="33878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45080" cy="338786"/>
            </a:xfrm>
            <a:custGeom>
              <a:avLst/>
              <a:gdLst/>
              <a:ahLst/>
              <a:cxnLst/>
              <a:rect r="r" b="b" t="t" l="l"/>
              <a:pathLst>
                <a:path h="338786" w="1445080">
                  <a:moveTo>
                    <a:pt x="0" y="0"/>
                  </a:moveTo>
                  <a:lnTo>
                    <a:pt x="1445080" y="0"/>
                  </a:lnTo>
                  <a:lnTo>
                    <a:pt x="1445080" y="338786"/>
                  </a:lnTo>
                  <a:lnTo>
                    <a:pt x="0" y="338786"/>
                  </a:lnTo>
                  <a:close/>
                </a:path>
              </a:pathLst>
            </a:custGeom>
            <a:solidFill>
              <a:srgbClr val="292F56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1445080" cy="357836"/>
            </a:xfrm>
            <a:prstGeom prst="rect">
              <a:avLst/>
            </a:prstGeom>
          </p:spPr>
          <p:txBody>
            <a:bodyPr anchor="ctr" rtlCol="false" tIns="43615" lIns="43615" bIns="43615" rIns="43615"/>
            <a:lstStyle/>
            <a:p>
              <a:pPr algn="ctr" marL="0" indent="0" lvl="0">
                <a:lnSpc>
                  <a:spcPts val="2163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2045455" y="3088796"/>
            <a:ext cx="1842558" cy="1924449"/>
            <a:chOff x="0" y="0"/>
            <a:chExt cx="571500" cy="5969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71500" cy="596900"/>
            </a:xfrm>
            <a:custGeom>
              <a:avLst/>
              <a:gdLst/>
              <a:ahLst/>
              <a:cxnLst/>
              <a:rect r="r" b="b" t="t" l="l"/>
              <a:pathLst>
                <a:path h="596900" w="571500">
                  <a:moveTo>
                    <a:pt x="571500" y="596900"/>
                  </a:moveTo>
                  <a:lnTo>
                    <a:pt x="0" y="596900"/>
                  </a:lnTo>
                  <a:lnTo>
                    <a:pt x="0" y="0"/>
                  </a:lnTo>
                  <a:lnTo>
                    <a:pt x="571500" y="596900"/>
                  </a:lnTo>
                  <a:close/>
                </a:path>
              </a:pathLst>
            </a:custGeom>
            <a:solidFill>
              <a:srgbClr val="292F56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279400"/>
              <a:ext cx="285750" cy="317500"/>
            </a:xfrm>
            <a:prstGeom prst="rect">
              <a:avLst/>
            </a:prstGeom>
          </p:spPr>
          <p:txBody>
            <a:bodyPr anchor="ctr" rtlCol="false" tIns="43615" lIns="43615" bIns="43615" rIns="43615"/>
            <a:lstStyle/>
            <a:p>
              <a:pPr algn="ctr" marL="0" indent="0" lvl="0">
                <a:lnSpc>
                  <a:spcPts val="2163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945810" y="5159780"/>
            <a:ext cx="5544080" cy="1299761"/>
            <a:chOff x="0" y="0"/>
            <a:chExt cx="1445080" cy="33878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445080" cy="338786"/>
            </a:xfrm>
            <a:custGeom>
              <a:avLst/>
              <a:gdLst/>
              <a:ahLst/>
              <a:cxnLst/>
              <a:rect r="r" b="b" t="t" l="l"/>
              <a:pathLst>
                <a:path h="338786" w="1445080">
                  <a:moveTo>
                    <a:pt x="0" y="0"/>
                  </a:moveTo>
                  <a:lnTo>
                    <a:pt x="1445080" y="0"/>
                  </a:lnTo>
                  <a:lnTo>
                    <a:pt x="1445080" y="338786"/>
                  </a:lnTo>
                  <a:lnTo>
                    <a:pt x="0" y="338786"/>
                  </a:lnTo>
                  <a:close/>
                </a:path>
              </a:pathLst>
            </a:custGeom>
            <a:solidFill>
              <a:srgbClr val="00889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1445080" cy="357836"/>
            </a:xfrm>
            <a:prstGeom prst="rect">
              <a:avLst/>
            </a:prstGeom>
          </p:spPr>
          <p:txBody>
            <a:bodyPr anchor="ctr" rtlCol="false" tIns="43615" lIns="43615" bIns="43615" rIns="43615"/>
            <a:lstStyle/>
            <a:p>
              <a:pPr algn="ctr" marL="0" indent="0" lvl="0">
                <a:lnSpc>
                  <a:spcPts val="2163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5400000">
            <a:off x="12084658" y="5104297"/>
            <a:ext cx="1764151" cy="1842558"/>
            <a:chOff x="0" y="0"/>
            <a:chExt cx="571500" cy="5969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571500" cy="596900"/>
            </a:xfrm>
            <a:custGeom>
              <a:avLst/>
              <a:gdLst/>
              <a:ahLst/>
              <a:cxnLst/>
              <a:rect r="r" b="b" t="t" l="l"/>
              <a:pathLst>
                <a:path h="596900" w="571500">
                  <a:moveTo>
                    <a:pt x="571500" y="596900"/>
                  </a:moveTo>
                  <a:lnTo>
                    <a:pt x="0" y="596900"/>
                  </a:lnTo>
                  <a:lnTo>
                    <a:pt x="0" y="0"/>
                  </a:lnTo>
                  <a:lnTo>
                    <a:pt x="571500" y="596900"/>
                  </a:lnTo>
                  <a:close/>
                </a:path>
              </a:pathLst>
            </a:custGeom>
            <a:solidFill>
              <a:srgbClr val="00889F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279400"/>
              <a:ext cx="285750" cy="317500"/>
            </a:xfrm>
            <a:prstGeom prst="rect">
              <a:avLst/>
            </a:prstGeom>
          </p:spPr>
          <p:txBody>
            <a:bodyPr anchor="ctr" rtlCol="false" tIns="43615" lIns="43615" bIns="43615" rIns="43615"/>
            <a:lstStyle/>
            <a:p>
              <a:pPr algn="ctr" marL="0" indent="0" lvl="0">
                <a:lnSpc>
                  <a:spcPts val="2163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3964454" y="2419855"/>
            <a:ext cx="5454107" cy="5447290"/>
          </a:xfrm>
          <a:custGeom>
            <a:avLst/>
            <a:gdLst/>
            <a:ahLst/>
            <a:cxnLst/>
            <a:rect r="r" b="b" t="t" l="l"/>
            <a:pathLst>
              <a:path h="5447290" w="5454107">
                <a:moveTo>
                  <a:pt x="0" y="0"/>
                </a:moveTo>
                <a:lnTo>
                  <a:pt x="5454107" y="0"/>
                </a:lnTo>
                <a:lnTo>
                  <a:pt x="5454107" y="5447290"/>
                </a:lnTo>
                <a:lnTo>
                  <a:pt x="0" y="54472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15" id="15"/>
          <p:cNvGrpSpPr/>
          <p:nvPr/>
        </p:nvGrpSpPr>
        <p:grpSpPr>
          <a:xfrm rot="0">
            <a:off x="3964454" y="2996067"/>
            <a:ext cx="4563933" cy="4563933"/>
            <a:chOff x="0" y="0"/>
            <a:chExt cx="812800" cy="812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76200" y="0"/>
              <a:ext cx="660400" cy="736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5039"/>
                </a:lnSpc>
                <a:spcBef>
                  <a:spcPct val="0"/>
                </a:spcBef>
              </a:pPr>
              <a:r>
                <a:rPr lang="en-US" b="true" sz="3599">
                  <a:solidFill>
                    <a:srgbClr val="292F56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Test man-withney(edad)</a:t>
              </a:r>
            </a:p>
          </p:txBody>
        </p:sp>
      </p:grpSp>
      <p:sp>
        <p:nvSpPr>
          <p:cNvPr name="Freeform 18" id="18"/>
          <p:cNvSpPr/>
          <p:nvPr/>
        </p:nvSpPr>
        <p:spPr>
          <a:xfrm flipH="false" flipV="false" rot="0">
            <a:off x="7875610" y="7205402"/>
            <a:ext cx="5374871" cy="354598"/>
          </a:xfrm>
          <a:custGeom>
            <a:avLst/>
            <a:gdLst/>
            <a:ahLst/>
            <a:cxnLst/>
            <a:rect r="r" b="b" t="t" l="l"/>
            <a:pathLst>
              <a:path h="354598" w="5374871">
                <a:moveTo>
                  <a:pt x="0" y="0"/>
                </a:moveTo>
                <a:lnTo>
                  <a:pt x="5374870" y="0"/>
                </a:lnTo>
                <a:lnTo>
                  <a:pt x="5374870" y="354599"/>
                </a:lnTo>
                <a:lnTo>
                  <a:pt x="0" y="35459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9000"/>
            </a:blip>
            <a:stretch>
              <a:fillRect l="0" t="-73623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8850113" y="4125650"/>
            <a:ext cx="3425864" cy="437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797"/>
              </a:lnSpc>
              <a:spcBef>
                <a:spcPct val="0"/>
              </a:spcBef>
            </a:pPr>
            <a:r>
              <a:rPr lang="en-US" b="true" sz="2712">
                <a:solidFill>
                  <a:srgbClr val="FFFFFF"/>
                </a:solidFill>
                <a:latin typeface="TT Hoves Bold"/>
                <a:ea typeface="TT Hoves Bold"/>
                <a:cs typeface="TT Hoves Bold"/>
                <a:sym typeface="TT Hoves Bold"/>
              </a:rPr>
              <a:t>Edad vs Ingresos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000600" y="5527841"/>
            <a:ext cx="5544080" cy="4454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797"/>
              </a:lnSpc>
              <a:spcBef>
                <a:spcPct val="0"/>
              </a:spcBef>
            </a:pPr>
            <a:r>
              <a:rPr lang="en-US" b="true" sz="2712">
                <a:solidFill>
                  <a:srgbClr val="FFFFFF"/>
                </a:solidFill>
                <a:latin typeface="TT Hoves Bold"/>
                <a:ea typeface="TT Hoves Bold"/>
                <a:cs typeface="TT Hoves Bold"/>
                <a:sym typeface="TT Hoves Bold"/>
              </a:rPr>
              <a:t>Diferencias significativas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246420" y="8124320"/>
            <a:ext cx="6850393" cy="1153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  <a:spcBef>
                <a:spcPct val="0"/>
              </a:spcBef>
            </a:pPr>
            <a:r>
              <a:rPr lang="en-US" sz="2200" spc="33">
                <a:solidFill>
                  <a:srgbClr val="292F56"/>
                </a:solidFill>
                <a:latin typeface="Aileron"/>
                <a:ea typeface="Aileron"/>
                <a:cs typeface="Aileron"/>
                <a:sym typeface="Aileron"/>
              </a:rPr>
              <a:t>p-value &lt; 0.05 →</a:t>
            </a:r>
          </a:p>
          <a:p>
            <a:pPr algn="ctr">
              <a:lnSpc>
                <a:spcPts val="3080"/>
              </a:lnSpc>
              <a:spcBef>
                <a:spcPct val="0"/>
              </a:spcBef>
            </a:pPr>
            <a:r>
              <a:rPr lang="en-US" sz="2200" spc="33">
                <a:solidFill>
                  <a:srgbClr val="292F56"/>
                </a:solidFill>
                <a:latin typeface="Aileron"/>
                <a:ea typeface="Aileron"/>
                <a:cs typeface="Aileron"/>
                <a:sym typeface="Aileron"/>
              </a:rPr>
              <a:t>Diferencia estadísticamente significativa en la edad</a:t>
            </a:r>
          </a:p>
          <a:p>
            <a:pPr algn="ctr">
              <a:lnSpc>
                <a:spcPts val="3080"/>
              </a:lnSpc>
              <a:spcBef>
                <a:spcPct val="0"/>
              </a:spcBef>
            </a:pPr>
            <a:r>
              <a:rPr lang="en-US" sz="2200" spc="33">
                <a:solidFill>
                  <a:srgbClr val="292F56"/>
                </a:solidFill>
                <a:latin typeface="Aileron"/>
                <a:ea typeface="Aileron"/>
                <a:cs typeface="Aileron"/>
                <a:sym typeface="Aileron"/>
              </a:rPr>
              <a:t>El grupo de mayores ingresos tiende a ser más adulto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330871" y="1545826"/>
            <a:ext cx="12398972" cy="8176523"/>
          </a:xfrm>
          <a:custGeom>
            <a:avLst/>
            <a:gdLst/>
            <a:ahLst/>
            <a:cxnLst/>
            <a:rect r="r" b="b" t="t" l="l"/>
            <a:pathLst>
              <a:path h="8176523" w="12398972">
                <a:moveTo>
                  <a:pt x="0" y="0"/>
                </a:moveTo>
                <a:lnTo>
                  <a:pt x="12398972" y="0"/>
                </a:lnTo>
                <a:lnTo>
                  <a:pt x="12398972" y="8176523"/>
                </a:lnTo>
                <a:lnTo>
                  <a:pt x="0" y="817652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2110221" y="7558396"/>
            <a:ext cx="2996372" cy="197681"/>
          </a:xfrm>
          <a:custGeom>
            <a:avLst/>
            <a:gdLst/>
            <a:ahLst/>
            <a:cxnLst/>
            <a:rect r="r" b="b" t="t" l="l"/>
            <a:pathLst>
              <a:path h="197681" w="2996372">
                <a:moveTo>
                  <a:pt x="0" y="0"/>
                </a:moveTo>
                <a:lnTo>
                  <a:pt x="2996372" y="0"/>
                </a:lnTo>
                <a:lnTo>
                  <a:pt x="2996372" y="197681"/>
                </a:lnTo>
                <a:lnTo>
                  <a:pt x="0" y="19768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4000"/>
            </a:blip>
            <a:stretch>
              <a:fillRect l="0" t="-73623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318895" y="4253937"/>
            <a:ext cx="3342204" cy="3502140"/>
            <a:chOff x="0" y="0"/>
            <a:chExt cx="764074" cy="80063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64074" cy="800638"/>
            </a:xfrm>
            <a:custGeom>
              <a:avLst/>
              <a:gdLst/>
              <a:ahLst/>
              <a:cxnLst/>
              <a:rect r="r" b="b" t="t" l="l"/>
              <a:pathLst>
                <a:path h="800638" w="764074">
                  <a:moveTo>
                    <a:pt x="46328" y="0"/>
                  </a:moveTo>
                  <a:lnTo>
                    <a:pt x="717746" y="0"/>
                  </a:lnTo>
                  <a:cubicBezTo>
                    <a:pt x="730033" y="0"/>
                    <a:pt x="741816" y="4881"/>
                    <a:pt x="750505" y="13569"/>
                  </a:cubicBezTo>
                  <a:cubicBezTo>
                    <a:pt x="759193" y="22257"/>
                    <a:pt x="764074" y="34041"/>
                    <a:pt x="764074" y="46328"/>
                  </a:cubicBezTo>
                  <a:lnTo>
                    <a:pt x="764074" y="754309"/>
                  </a:lnTo>
                  <a:cubicBezTo>
                    <a:pt x="764074" y="779896"/>
                    <a:pt x="743332" y="800638"/>
                    <a:pt x="717746" y="800638"/>
                  </a:cubicBezTo>
                  <a:lnTo>
                    <a:pt x="46328" y="800638"/>
                  </a:lnTo>
                  <a:cubicBezTo>
                    <a:pt x="20742" y="800638"/>
                    <a:pt x="0" y="779896"/>
                    <a:pt x="0" y="754309"/>
                  </a:cubicBezTo>
                  <a:lnTo>
                    <a:pt x="0" y="46328"/>
                  </a:lnTo>
                  <a:cubicBezTo>
                    <a:pt x="0" y="34041"/>
                    <a:pt x="4881" y="22257"/>
                    <a:pt x="13569" y="13569"/>
                  </a:cubicBezTo>
                  <a:cubicBezTo>
                    <a:pt x="22257" y="4881"/>
                    <a:pt x="34041" y="0"/>
                    <a:pt x="46328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764074" cy="8482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1284731" y="2815916"/>
            <a:ext cx="3660004" cy="2339587"/>
          </a:xfrm>
          <a:custGeom>
            <a:avLst/>
            <a:gdLst/>
            <a:ahLst/>
            <a:cxnLst/>
            <a:rect r="r" b="b" t="t" l="l"/>
            <a:pathLst>
              <a:path h="2339587" w="3660004">
                <a:moveTo>
                  <a:pt x="0" y="0"/>
                </a:moveTo>
                <a:lnTo>
                  <a:pt x="3660004" y="0"/>
                </a:lnTo>
                <a:lnTo>
                  <a:pt x="3660004" y="2339587"/>
                </a:lnTo>
                <a:lnTo>
                  <a:pt x="0" y="233958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2271973" y="3057610"/>
            <a:ext cx="1685520" cy="5458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516"/>
              </a:lnSpc>
              <a:spcBef>
                <a:spcPct val="0"/>
              </a:spcBef>
            </a:pPr>
            <a:r>
              <a:rPr lang="en-US" b="true" sz="3225">
                <a:solidFill>
                  <a:srgbClr val="292F56"/>
                </a:solidFill>
                <a:latin typeface="TT Hoves Bold"/>
                <a:ea typeface="TT Hoves Bold"/>
                <a:cs typeface="TT Hoves Bold"/>
                <a:sym typeface="TT Hoves Bold"/>
              </a:rPr>
              <a:t>01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491811" y="5708968"/>
            <a:ext cx="3452924" cy="1582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580"/>
              </a:lnSpc>
            </a:pPr>
            <a:r>
              <a:rPr lang="en-US" sz="1843" spc="27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Casados → mayor proporción &gt;50K</a:t>
            </a:r>
          </a:p>
          <a:p>
            <a:pPr algn="just">
              <a:lnSpc>
                <a:spcPts val="2580"/>
              </a:lnSpc>
            </a:pPr>
          </a:p>
          <a:p>
            <a:pPr algn="just">
              <a:lnSpc>
                <a:spcPts val="2580"/>
              </a:lnSpc>
            </a:pPr>
            <a:r>
              <a:rPr lang="en-US" sz="1843" spc="27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No casados → mayoría ≤50K</a:t>
            </a:r>
          </a:p>
          <a:p>
            <a:pPr algn="just" marL="0" indent="0" lvl="0">
              <a:lnSpc>
                <a:spcPts val="2580"/>
              </a:lnSpc>
              <a:spcBef>
                <a:spcPct val="0"/>
              </a:spcBef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1637749" y="4548149"/>
            <a:ext cx="2704496" cy="7191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903"/>
              </a:lnSpc>
              <a:spcBef>
                <a:spcPct val="0"/>
              </a:spcBef>
            </a:pPr>
            <a:r>
              <a:rPr lang="en-US" b="true" sz="2073">
                <a:solidFill>
                  <a:srgbClr val="292F56"/>
                </a:solidFill>
                <a:latin typeface="TT Hoves Bold"/>
                <a:ea typeface="TT Hoves Bold"/>
                <a:cs typeface="TT Hoves Bold"/>
                <a:sym typeface="TT Hoves Bold"/>
              </a:rPr>
              <a:t>Estado Civil VS Ingresos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781363" y="458402"/>
            <a:ext cx="10557967" cy="9370195"/>
          </a:xfrm>
          <a:custGeom>
            <a:avLst/>
            <a:gdLst/>
            <a:ahLst/>
            <a:cxnLst/>
            <a:rect r="r" b="b" t="t" l="l"/>
            <a:pathLst>
              <a:path h="9370195" w="10557967">
                <a:moveTo>
                  <a:pt x="0" y="0"/>
                </a:moveTo>
                <a:lnTo>
                  <a:pt x="10557966" y="0"/>
                </a:lnTo>
                <a:lnTo>
                  <a:pt x="10557966" y="9370196"/>
                </a:lnTo>
                <a:lnTo>
                  <a:pt x="0" y="93701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2213846" y="6444910"/>
            <a:ext cx="2600904" cy="171590"/>
          </a:xfrm>
          <a:custGeom>
            <a:avLst/>
            <a:gdLst/>
            <a:ahLst/>
            <a:cxnLst/>
            <a:rect r="r" b="b" t="t" l="l"/>
            <a:pathLst>
              <a:path h="171590" w="2600904">
                <a:moveTo>
                  <a:pt x="0" y="0"/>
                </a:moveTo>
                <a:lnTo>
                  <a:pt x="2600904" y="0"/>
                </a:lnTo>
                <a:lnTo>
                  <a:pt x="2600904" y="171591"/>
                </a:lnTo>
                <a:lnTo>
                  <a:pt x="0" y="17159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4000"/>
            </a:blip>
            <a:stretch>
              <a:fillRect l="0" t="-73623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865604" y="3950621"/>
            <a:ext cx="2901093" cy="3039921"/>
            <a:chOff x="0" y="0"/>
            <a:chExt cx="764074" cy="80063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64074" cy="800638"/>
            </a:xfrm>
            <a:custGeom>
              <a:avLst/>
              <a:gdLst/>
              <a:ahLst/>
              <a:cxnLst/>
              <a:rect r="r" b="b" t="t" l="l"/>
              <a:pathLst>
                <a:path h="800638" w="764074">
                  <a:moveTo>
                    <a:pt x="53372" y="0"/>
                  </a:moveTo>
                  <a:lnTo>
                    <a:pt x="710701" y="0"/>
                  </a:lnTo>
                  <a:cubicBezTo>
                    <a:pt x="724857" y="0"/>
                    <a:pt x="738432" y="5623"/>
                    <a:pt x="748441" y="15632"/>
                  </a:cubicBezTo>
                  <a:cubicBezTo>
                    <a:pt x="758451" y="25642"/>
                    <a:pt x="764074" y="39217"/>
                    <a:pt x="764074" y="53372"/>
                  </a:cubicBezTo>
                  <a:lnTo>
                    <a:pt x="764074" y="747265"/>
                  </a:lnTo>
                  <a:cubicBezTo>
                    <a:pt x="764074" y="776742"/>
                    <a:pt x="740178" y="800638"/>
                    <a:pt x="710701" y="800638"/>
                  </a:cubicBezTo>
                  <a:lnTo>
                    <a:pt x="53372" y="800638"/>
                  </a:lnTo>
                  <a:cubicBezTo>
                    <a:pt x="23896" y="800638"/>
                    <a:pt x="0" y="776742"/>
                    <a:pt x="0" y="747265"/>
                  </a:cubicBezTo>
                  <a:lnTo>
                    <a:pt x="0" y="53372"/>
                  </a:lnTo>
                  <a:cubicBezTo>
                    <a:pt x="0" y="23896"/>
                    <a:pt x="23896" y="0"/>
                    <a:pt x="5337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764074" cy="8482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1835949" y="2702393"/>
            <a:ext cx="3176949" cy="2030804"/>
          </a:xfrm>
          <a:custGeom>
            <a:avLst/>
            <a:gdLst/>
            <a:ahLst/>
            <a:cxnLst/>
            <a:rect r="r" b="b" t="t" l="l"/>
            <a:pathLst>
              <a:path h="2030804" w="3176949">
                <a:moveTo>
                  <a:pt x="0" y="0"/>
                </a:moveTo>
                <a:lnTo>
                  <a:pt x="3176949" y="0"/>
                </a:lnTo>
                <a:lnTo>
                  <a:pt x="3176949" y="2030804"/>
                </a:lnTo>
                <a:lnTo>
                  <a:pt x="0" y="203080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2692893" y="2881150"/>
            <a:ext cx="1463062" cy="5048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199"/>
              </a:lnSpc>
              <a:spcBef>
                <a:spcPct val="0"/>
              </a:spcBef>
            </a:pPr>
            <a:r>
              <a:rPr lang="en-US" b="true" sz="2999">
                <a:solidFill>
                  <a:srgbClr val="292F56"/>
                </a:solidFill>
                <a:latin typeface="TT Hoves Bold"/>
                <a:ea typeface="TT Hoves Bold"/>
                <a:cs typeface="TT Hoves Bold"/>
                <a:sym typeface="TT Hoves Bold"/>
              </a:rPr>
              <a:t>01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138799" y="5357296"/>
            <a:ext cx="2750999" cy="12592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88618" indent="-194309" lvl="1">
              <a:lnSpc>
                <a:spcPts val="2519"/>
              </a:lnSpc>
              <a:buFont typeface="Arial"/>
              <a:buChar char="•"/>
            </a:pPr>
            <a:r>
              <a:rPr lang="en-US" sz="1799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Correlaciones débiles (|r| &lt; 0,3)</a:t>
            </a:r>
          </a:p>
          <a:p>
            <a:pPr algn="just" marL="388618" indent="-194309" lvl="1">
              <a:lnSpc>
                <a:spcPts val="2519"/>
              </a:lnSpc>
              <a:buFont typeface="Arial"/>
              <a:buChar char="•"/>
            </a:pPr>
            <a:r>
              <a:rPr lang="en-US" sz="1799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Baja multicolinealidad</a:t>
            </a:r>
          </a:p>
          <a:p>
            <a:pPr algn="just" marL="0" indent="0" lvl="0">
              <a:lnSpc>
                <a:spcPts val="2519"/>
              </a:lnSpc>
              <a:spcBef>
                <a:spcPct val="0"/>
              </a:spcBef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2250648" y="4441825"/>
            <a:ext cx="2347551" cy="701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b="true" sz="2000">
                <a:solidFill>
                  <a:srgbClr val="292F56"/>
                </a:solidFill>
                <a:latin typeface="TT Hoves Bold"/>
                <a:ea typeface="TT Hoves Bold"/>
                <a:cs typeface="TT Hoves Bold"/>
                <a:sym typeface="TT Hoves Bold"/>
              </a:rPr>
              <a:t>Análisis Multivariante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0800000">
            <a:off x="2510661" y="8499438"/>
            <a:ext cx="644024" cy="617168"/>
            <a:chOff x="0" y="0"/>
            <a:chExt cx="6350000" cy="6339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350000" cy="6339840"/>
            </a:xfrm>
            <a:custGeom>
              <a:avLst/>
              <a:gdLst/>
              <a:ahLst/>
              <a:cxnLst/>
              <a:rect r="r" b="b" t="t" l="l"/>
              <a:pathLst>
                <a:path h="6339840" w="6350000">
                  <a:moveTo>
                    <a:pt x="6350000" y="6339840"/>
                  </a:moveTo>
                  <a:lnTo>
                    <a:pt x="0" y="63398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8B6B4">
                <a:alpha val="49804"/>
              </a:srgbClr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2510661" y="6469115"/>
            <a:ext cx="3525022" cy="2030323"/>
            <a:chOff x="0" y="0"/>
            <a:chExt cx="928401" cy="53473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928401" cy="534735"/>
            </a:xfrm>
            <a:custGeom>
              <a:avLst/>
              <a:gdLst/>
              <a:ahLst/>
              <a:cxnLst/>
              <a:rect r="r" b="b" t="t" l="l"/>
              <a:pathLst>
                <a:path h="534735" w="928401">
                  <a:moveTo>
                    <a:pt x="0" y="0"/>
                  </a:moveTo>
                  <a:lnTo>
                    <a:pt x="928401" y="0"/>
                  </a:lnTo>
                  <a:lnTo>
                    <a:pt x="928401" y="534735"/>
                  </a:lnTo>
                  <a:lnTo>
                    <a:pt x="0" y="534735"/>
                  </a:lnTo>
                  <a:close/>
                </a:path>
              </a:pathLst>
            </a:custGeom>
            <a:solidFill>
              <a:srgbClr val="18B6B4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76200"/>
              <a:ext cx="928401" cy="61093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599"/>
                </a:lnSpc>
              </a:pPr>
              <a:r>
                <a:rPr lang="en-US" b="true" sz="3999" spc="199">
                  <a:solidFill>
                    <a:srgbClr val="FFFFFF"/>
                  </a:solidFill>
                  <a:latin typeface="Aileron Ultra-Bold"/>
                  <a:ea typeface="Aileron Ultra-Bold"/>
                  <a:cs typeface="Aileron Ultra-Bold"/>
                  <a:sym typeface="Aileron Ultra-Bold"/>
                </a:rPr>
                <a:t>1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5443394" y="5851947"/>
            <a:ext cx="3525022" cy="2030323"/>
            <a:chOff x="0" y="0"/>
            <a:chExt cx="928401" cy="534735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928401" cy="534735"/>
            </a:xfrm>
            <a:custGeom>
              <a:avLst/>
              <a:gdLst/>
              <a:ahLst/>
              <a:cxnLst/>
              <a:rect r="r" b="b" t="t" l="l"/>
              <a:pathLst>
                <a:path h="534735" w="928401">
                  <a:moveTo>
                    <a:pt x="0" y="0"/>
                  </a:moveTo>
                  <a:lnTo>
                    <a:pt x="928401" y="0"/>
                  </a:lnTo>
                  <a:lnTo>
                    <a:pt x="928401" y="534735"/>
                  </a:lnTo>
                  <a:lnTo>
                    <a:pt x="0" y="534735"/>
                  </a:lnTo>
                  <a:close/>
                </a:path>
              </a:pathLst>
            </a:custGeom>
            <a:solidFill>
              <a:srgbClr val="37C9EF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76200"/>
              <a:ext cx="928401" cy="61093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599"/>
                </a:lnSpc>
              </a:pPr>
              <a:r>
                <a:rPr lang="en-US" b="true" sz="3999" spc="199">
                  <a:solidFill>
                    <a:srgbClr val="FFFFFF"/>
                  </a:solidFill>
                  <a:latin typeface="Aileron Ultra-Bold"/>
                  <a:ea typeface="Aileron Ultra-Bold"/>
                  <a:cs typeface="Aileron Ultra-Bold"/>
                  <a:sym typeface="Aileron Ultra-Bold"/>
                </a:rPr>
                <a:t>2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8350258" y="5240138"/>
            <a:ext cx="3525022" cy="2030323"/>
            <a:chOff x="0" y="0"/>
            <a:chExt cx="928401" cy="534735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28401" cy="534735"/>
            </a:xfrm>
            <a:custGeom>
              <a:avLst/>
              <a:gdLst/>
              <a:ahLst/>
              <a:cxnLst/>
              <a:rect r="r" b="b" t="t" l="l"/>
              <a:pathLst>
                <a:path h="534735" w="928401">
                  <a:moveTo>
                    <a:pt x="0" y="0"/>
                  </a:moveTo>
                  <a:lnTo>
                    <a:pt x="928401" y="0"/>
                  </a:lnTo>
                  <a:lnTo>
                    <a:pt x="928401" y="534735"/>
                  </a:lnTo>
                  <a:lnTo>
                    <a:pt x="0" y="534735"/>
                  </a:lnTo>
                  <a:close/>
                </a:path>
              </a:pathLst>
            </a:custGeom>
            <a:solidFill>
              <a:srgbClr val="2C92D5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76200"/>
              <a:ext cx="928401" cy="61093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599"/>
                </a:lnSpc>
              </a:pPr>
              <a:r>
                <a:rPr lang="en-US" b="true" sz="3999" spc="199">
                  <a:solidFill>
                    <a:srgbClr val="FFFFFF"/>
                  </a:solidFill>
                  <a:latin typeface="Aileron Ultra-Bold"/>
                  <a:ea typeface="Aileron Ultra-Bold"/>
                  <a:cs typeface="Aileron Ultra-Bold"/>
                  <a:sym typeface="Aileron Ultra-Bold"/>
                </a:rPr>
                <a:t>3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-10800000">
            <a:off x="8340733" y="7265102"/>
            <a:ext cx="618157" cy="617168"/>
            <a:chOff x="0" y="0"/>
            <a:chExt cx="6350000" cy="63398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350000" cy="6339840"/>
            </a:xfrm>
            <a:custGeom>
              <a:avLst/>
              <a:gdLst/>
              <a:ahLst/>
              <a:cxnLst/>
              <a:rect r="r" b="b" t="t" l="l"/>
              <a:pathLst>
                <a:path h="6339840" w="6350000">
                  <a:moveTo>
                    <a:pt x="6350000" y="6339840"/>
                  </a:moveTo>
                  <a:lnTo>
                    <a:pt x="0" y="63398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C92D5">
                <a:alpha val="49804"/>
              </a:srgbClr>
            </a:solidFill>
          </p:spPr>
        </p:sp>
      </p:grpSp>
      <p:grpSp>
        <p:nvGrpSpPr>
          <p:cNvPr name="Group 15" id="15"/>
          <p:cNvGrpSpPr/>
          <p:nvPr/>
        </p:nvGrpSpPr>
        <p:grpSpPr>
          <a:xfrm rot="-10800000">
            <a:off x="5427051" y="7882270"/>
            <a:ext cx="618157" cy="617168"/>
            <a:chOff x="0" y="0"/>
            <a:chExt cx="6350000" cy="63398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6350000" cy="6339840"/>
            </a:xfrm>
            <a:custGeom>
              <a:avLst/>
              <a:gdLst/>
              <a:ahLst/>
              <a:cxnLst/>
              <a:rect r="r" b="b" t="t" l="l"/>
              <a:pathLst>
                <a:path h="6339840" w="6350000">
                  <a:moveTo>
                    <a:pt x="6350000" y="6339840"/>
                  </a:moveTo>
                  <a:lnTo>
                    <a:pt x="0" y="63398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7C9EF">
                <a:alpha val="49804"/>
              </a:srgbClr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11251398" y="3574512"/>
            <a:ext cx="4525941" cy="4020616"/>
            <a:chOff x="0" y="0"/>
            <a:chExt cx="977479" cy="868343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977479" cy="868343"/>
            </a:xfrm>
            <a:custGeom>
              <a:avLst/>
              <a:gdLst/>
              <a:ahLst/>
              <a:cxnLst/>
              <a:rect r="r" b="b" t="t" l="l"/>
              <a:pathLst>
                <a:path h="868343" w="977479">
                  <a:moveTo>
                    <a:pt x="977479" y="434171"/>
                  </a:moveTo>
                  <a:lnTo>
                    <a:pt x="571079" y="0"/>
                  </a:lnTo>
                  <a:lnTo>
                    <a:pt x="571079" y="203200"/>
                  </a:lnTo>
                  <a:lnTo>
                    <a:pt x="0" y="203200"/>
                  </a:lnTo>
                  <a:lnTo>
                    <a:pt x="0" y="665143"/>
                  </a:lnTo>
                  <a:lnTo>
                    <a:pt x="571079" y="665143"/>
                  </a:lnTo>
                  <a:lnTo>
                    <a:pt x="571079" y="868343"/>
                  </a:lnTo>
                  <a:lnTo>
                    <a:pt x="977479" y="434171"/>
                  </a:lnTo>
                  <a:close/>
                </a:path>
              </a:pathLst>
            </a:custGeom>
            <a:solidFill>
              <a:srgbClr val="13538A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127000"/>
              <a:ext cx="875879" cy="53814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599"/>
                </a:lnSpc>
              </a:pPr>
              <a:r>
                <a:rPr lang="en-US" b="true" sz="3999" spc="199">
                  <a:solidFill>
                    <a:srgbClr val="FFFFFF"/>
                  </a:solidFill>
                  <a:latin typeface="Aileron Ultra-Bold"/>
                  <a:ea typeface="Aileron Ultra-Bold"/>
                  <a:cs typeface="Aileron Ultra-Bold"/>
                  <a:sym typeface="Aileron Ultra-Bold"/>
                </a:rPr>
                <a:t>4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-10800000">
            <a:off x="11241873" y="6647934"/>
            <a:ext cx="618157" cy="617168"/>
            <a:chOff x="0" y="0"/>
            <a:chExt cx="6350000" cy="63398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350000" cy="6339840"/>
            </a:xfrm>
            <a:custGeom>
              <a:avLst/>
              <a:gdLst/>
              <a:ahLst/>
              <a:cxnLst/>
              <a:rect r="r" b="b" t="t" l="l"/>
              <a:pathLst>
                <a:path h="6339840" w="6350000">
                  <a:moveTo>
                    <a:pt x="6350000" y="6339840"/>
                  </a:moveTo>
                  <a:lnTo>
                    <a:pt x="0" y="63398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538A">
                <a:alpha val="49804"/>
              </a:srgbClr>
            </a:solid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2977509" y="4677141"/>
            <a:ext cx="2272366" cy="1362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640"/>
              </a:lnSpc>
            </a:pPr>
            <a:r>
              <a:rPr lang="en-US" sz="2600" spc="78">
                <a:solidFill>
                  <a:srgbClr val="191919"/>
                </a:solidFill>
                <a:latin typeface="Aileron"/>
                <a:ea typeface="Aileron"/>
                <a:cs typeface="Aileron"/>
                <a:sym typeface="Aileron"/>
              </a:rPr>
              <a:t>Educación, el factor más influyente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6061551" y="3877428"/>
            <a:ext cx="2288708" cy="1362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640"/>
              </a:lnSpc>
            </a:pPr>
            <a:r>
              <a:rPr lang="en-US" sz="2600" spc="78">
                <a:solidFill>
                  <a:srgbClr val="191919"/>
                </a:solidFill>
                <a:latin typeface="Aileron"/>
                <a:ea typeface="Aileron"/>
                <a:cs typeface="Aileron"/>
                <a:sym typeface="Aileron"/>
              </a:rPr>
              <a:t>Edad y estado civil también influyen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8911738" y="3187640"/>
            <a:ext cx="1887754" cy="1362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640"/>
              </a:lnSpc>
            </a:pPr>
            <a:r>
              <a:rPr lang="en-US" sz="2600" spc="78">
                <a:solidFill>
                  <a:srgbClr val="191919"/>
                </a:solidFill>
                <a:latin typeface="Aileron"/>
                <a:ea typeface="Aileron"/>
                <a:cs typeface="Aileron"/>
                <a:sym typeface="Aileron"/>
              </a:rPr>
              <a:t>Evidencia estadística clara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1713177" y="2129215"/>
            <a:ext cx="2183050" cy="1819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640"/>
              </a:lnSpc>
            </a:pPr>
            <a:r>
              <a:rPr lang="en-US" sz="2600" spc="78">
                <a:solidFill>
                  <a:srgbClr val="191919"/>
                </a:solidFill>
                <a:latin typeface="Aileron"/>
                <a:ea typeface="Aileron"/>
                <a:cs typeface="Aileron"/>
                <a:sym typeface="Aileron"/>
              </a:rPr>
              <a:t>Ingresos = combinación de varios factores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3550138" y="1234872"/>
            <a:ext cx="11187724" cy="1039832"/>
            <a:chOff x="0" y="0"/>
            <a:chExt cx="14916965" cy="1386443"/>
          </a:xfrm>
        </p:grpSpPr>
        <p:sp>
          <p:nvSpPr>
            <p:cNvPr name="TextBox 27" id="27"/>
            <p:cNvSpPr txBox="true"/>
            <p:nvPr/>
          </p:nvSpPr>
          <p:spPr>
            <a:xfrm rot="0">
              <a:off x="0" y="807746"/>
              <a:ext cx="14916965" cy="5786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640"/>
                </a:lnSpc>
              </a:pPr>
              <a:r>
                <a:rPr lang="en-US" sz="2600" spc="78">
                  <a:solidFill>
                    <a:srgbClr val="191919"/>
                  </a:solidFill>
                  <a:latin typeface="Aileron"/>
                  <a:ea typeface="Aileron"/>
                  <a:cs typeface="Aileron"/>
                  <a:sym typeface="Aileron"/>
                </a:rPr>
                <a:t>EDA</a:t>
              </a:r>
            </a:p>
          </p:txBody>
        </p:sp>
        <p:sp>
          <p:nvSpPr>
            <p:cNvPr name="TextBox 28" id="28"/>
            <p:cNvSpPr txBox="true"/>
            <p:nvPr/>
          </p:nvSpPr>
          <p:spPr>
            <a:xfrm rot="0">
              <a:off x="0" y="-47625"/>
              <a:ext cx="14916965" cy="76796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4716"/>
                </a:lnSpc>
              </a:pPr>
              <a:r>
                <a:rPr lang="en-US" b="true" sz="3600" spc="107">
                  <a:solidFill>
                    <a:srgbClr val="191919"/>
                  </a:solidFill>
                  <a:latin typeface="Aileron Ultra-Bold"/>
                  <a:ea typeface="Aileron Ultra-Bold"/>
                  <a:cs typeface="Aileron Ultra-Bold"/>
                  <a:sym typeface="Aileron Ultra-Bold"/>
                </a:rPr>
                <a:t>CONCLUSIONES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DAG9cSvI2eE</dc:identifier>
  <dcterms:modified xsi:type="dcterms:W3CDTF">2011-08-01T06:04:30Z</dcterms:modified>
  <cp:revision>1</cp:revision>
  <dc:title>ANÁLISIS EXPLORATORIO DE DATOS</dc:title>
</cp:coreProperties>
</file>