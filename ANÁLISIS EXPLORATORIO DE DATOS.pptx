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1_Aileron_Regular.fntdata" ContentType="application/x-fontdata"/>
  <Override PartName="/ppt/fonts/Font_2_TT_Hoves_Regular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2.svg" ContentType="image/svg"/>
  <Override PartName="/ppt/media/image18.png" ContentType="image/png"/>
  <Override PartName="/ppt/media/image1.png" ContentType="image/png"/>
  <Override PartName="/ppt/media/image5.png" ContentType="image/png"/>
  <Override PartName="/ppt/media/image15.png" ContentType="image/png"/>
  <Override PartName="/ppt/media/image3.png" ContentType="image/png"/>
  <Override PartName="/ppt/media/image8.svg" ContentType="image/svg"/>
  <Override PartName="/ppt/media/image7.png" ContentType="image/png"/>
  <Override PartName="/ppt/media/image11.png" ContentType="image/png"/>
  <Override PartName="/ppt/media/image16.png" ContentType="image/png"/>
  <Override PartName="/ppt/media/image4.svg" ContentType="image/svg"/>
  <Override PartName="/ppt/media/image6.png" ContentType="image/png"/>
  <Override PartName="/ppt/media/image10.png" ContentType="image/png"/>
  <Override PartName="/ppt/media/image9.png" ContentType="image/png"/>
  <Override PartName="/ppt/media/image20.png" ContentType="image/png"/>
  <Override PartName="/ppt/media/image12.svg" ContentType="image/svg"/>
  <Override PartName="/ppt/media/image13.png" ContentType="image/png"/>
  <Override PartName="/ppt/media/image14.svg" ContentType="image/svg"/>
  <Override PartName="/ppt/media/image17.png" ContentType="image/png"/>
  <Override PartName="/ppt/media/image1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7559675" cy="10691813"/>
  <p:embeddedFontLst>
    <p:embeddedFont>
      <p:font typeface="Aileron"/>
      <p:regular r:id="rId20"/>
    </p:embeddedFont>
    <p:embeddedFont>
      <p:font typeface="Aileron Bold"/>
    </p:embeddedFont>
    <p:embeddedFont>
      <p:font typeface="TT Hoves Bold"/>
    </p:embeddedFont>
    <p:embeddedFont>
      <p:font typeface="Aileron Ultra-Bold"/>
    </p:embeddedFont>
    <p:embeddedFont>
      <p:font typeface="TT Hoves"/>
      <p:regular r:id="rId21"/>
    </p:embeddedFont>
    <p:embeddedFont>
      <p:font typeface="Aileron Heavy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font" Target="fonts/Font_1_Aileron_Regular.fntdata"/><Relationship Id="rId21" Type="http://schemas.openxmlformats.org/officeDocument/2006/relationships/font" Target="fonts/Font_2_TT_Hoves_Regular.fntdata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159157-931D-4579-855D-6C9A11081F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A9D588-0EA5-42EB-81E7-66F8799DE6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654168-DCF2-41EB-9CF0-ABFACD08A91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DD5683-2443-46D2-A48C-8C53568516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120" cy="596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83BE6D-92AD-40CD-8C70-C0F48102B19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1CECD8-7E8A-4F0E-B658-E5659199A3E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25585E-C2CC-4FFB-9BDF-6CFC06BE8D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9AD018-D981-4306-AB0C-02F70BE4153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649A7A-8592-4969-B833-E7159C36B73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1FF20F-F41B-4243-83CB-6FC4F78AE5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E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15C191-BF9A-4D14-AA21-5E7A79DBFA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0" y="-5719680"/>
            <a:ext cx="18286920" cy="18286920"/>
          </a:xfrm>
          <a:custGeom>
            <a:avLst/>
            <a:gdLst>
              <a:gd name="textAreaLeft" fmla="*/ 0 w 18286920"/>
              <a:gd name="textAreaRight" fmla="*/ 18288000 w 18286920"/>
              <a:gd name="textAreaTop" fmla="*/ 0 h 18286920"/>
              <a:gd name="textAreaBottom" fmla="*/ 18288000 h 18286920"/>
            </a:gdLst>
            <a:ahLst/>
            <a:cxnLst/>
            <a:rect l="textAreaLeft" t="textAreaTop" r="textAreaRight" b="textAreaBottom"/>
            <a:pathLst>
              <a:path w="18288000" h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3"/>
          <p:cNvGrpSpPr/>
          <p:nvPr/>
        </p:nvGrpSpPr>
        <p:grpSpPr>
          <a:xfrm>
            <a:off x="1028880" y="7613640"/>
            <a:ext cx="16229520" cy="1643760"/>
            <a:chOff x="1028880" y="7613640"/>
            <a:chExt cx="16229520" cy="1643760"/>
          </a:xfrm>
        </p:grpSpPr>
        <p:sp>
          <p:nvSpPr>
            <p:cNvPr id="63" name="Freeform 4"/>
            <p:cNvSpPr/>
            <p:nvPr/>
          </p:nvSpPr>
          <p:spPr>
            <a:xfrm>
              <a:off x="1028880" y="7830720"/>
              <a:ext cx="16229520" cy="1426680"/>
            </a:xfrm>
            <a:custGeom>
              <a:avLst/>
              <a:gdLst>
                <a:gd name="textAreaLeft" fmla="*/ 0 w 16229520"/>
                <a:gd name="textAreaRight" fmla="*/ 16230600 w 16229520"/>
                <a:gd name="textAreaTop" fmla="*/ 0 h 1426680"/>
                <a:gd name="textAreaBottom" fmla="*/ 1427760 h 1426680"/>
              </a:gdLst>
              <a:ahLst/>
              <a:cxnLst/>
              <a:rect l="textAreaLeft" t="textAreaTop" r="textAreaRight" b="textAreaBottom"/>
              <a:pathLst>
                <a:path w="4274726" h="376027">
                  <a:moveTo>
                    <a:pt x="0" y="0"/>
                  </a:moveTo>
                  <a:lnTo>
                    <a:pt x="4274726" y="0"/>
                  </a:lnTo>
                  <a:lnTo>
                    <a:pt x="4274726" y="376027"/>
                  </a:lnTo>
                  <a:lnTo>
                    <a:pt x="0" y="376027"/>
                  </a:lnTo>
                  <a:close/>
                </a:path>
              </a:pathLst>
            </a:custGeom>
            <a:noFill/>
            <a:ln cap="sq" w="381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5"/>
            <p:cNvSpPr/>
            <p:nvPr/>
          </p:nvSpPr>
          <p:spPr>
            <a:xfrm>
              <a:off x="1028880" y="7613640"/>
              <a:ext cx="16229520" cy="164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defTabSz="914400">
                <a:lnSpc>
                  <a:spcPts val="3640"/>
                </a:lnSpc>
              </a:pPr>
              <a:r>
                <a:rPr b="0" lang="en-US" sz="2600" strike="noStrike" u="none">
                  <a:solidFill>
                    <a:srgbClr val="ffffff"/>
                  </a:solidFill>
                  <a:effectLst/>
                  <a:uFillTx/>
                  <a:latin typeface="Aileron"/>
                  <a:ea typeface="Aileron"/>
                </a:rPr>
                <a:t>Jose Manuel Morales                           Arrate</a:t>
              </a:r>
              <a:endParaRPr b="0" lang="es-E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TextBox 6"/>
          <p:cNvSpPr/>
          <p:nvPr/>
        </p:nvSpPr>
        <p:spPr>
          <a:xfrm>
            <a:off x="1028880" y="5734440"/>
            <a:ext cx="980388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5185"/>
              </a:lnSpc>
            </a:pPr>
            <a:r>
              <a:rPr b="1" lang="en-US" sz="3990" strike="noStrike" u="none">
                <a:solidFill>
                  <a:srgbClr val="ffffff"/>
                </a:solidFill>
                <a:effectLst/>
                <a:uFillTx/>
                <a:latin typeface="Aileron Bold"/>
                <a:ea typeface="Aileron Bold"/>
              </a:rPr>
              <a:t>ANÁLISIS EXPLORATORIO DE DATOS</a:t>
            </a:r>
            <a:endParaRPr b="0" lang="es-ES" sz="39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1028880" y="843840"/>
            <a:ext cx="11059560" cy="46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076"/>
              </a:lnSpc>
            </a:pPr>
            <a:r>
              <a:rPr b="1" lang="en-US" sz="10600" spc="105" strike="noStrike" u="none">
                <a:solidFill>
                  <a:srgbClr val="ffffff"/>
                </a:solidFill>
                <a:effectLst/>
                <a:uFillTx/>
                <a:latin typeface="Aileron Heavy"/>
                <a:ea typeface="Aileron Heavy"/>
              </a:rPr>
              <a:t>Ingresos en el censo adulto de EE.UU.</a:t>
            </a:r>
            <a:endParaRPr b="0" lang="es-ES" sz="10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53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Table 2"/>
          <p:cNvGraphicFramePr/>
          <p:nvPr/>
        </p:nvGraphicFramePr>
        <p:xfrm>
          <a:off x="2513160" y="2600280"/>
          <a:ext cx="13260960" cy="6117840"/>
        </p:xfrm>
        <a:graphic>
          <a:graphicData uri="http://schemas.openxmlformats.org/drawingml/2006/table">
            <a:tbl>
              <a:tblPr/>
              <a:tblGrid>
                <a:gridCol w="4420440"/>
                <a:gridCol w="4420440"/>
                <a:gridCol w="4420440"/>
              </a:tblGrid>
              <a:tr h="3746160">
                <a:tc>
                  <a:txBody>
                    <a:bodyPr lIns="190440" rIns="190440" tIns="190440" bIns="190440" anchor="b">
                      <a:noAutofit/>
                    </a:bodyPr>
                    <a:p>
                      <a:pPr algn="ctr" defTabSz="914400">
                        <a:lnSpc>
                          <a:spcPts val="5598"/>
                        </a:lnSpc>
                      </a:pPr>
                      <a:r>
                        <a:rPr b="1" lang="en-US" sz="4000" spc="119" strike="noStrike" u="none">
                          <a:solidFill>
                            <a:srgbClr val="2c92d5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ANALIZAR</a:t>
                      </a:r>
                      <a:endParaRPr b="0" lang="es-ES" sz="4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90440" marR="190440" marT="190440" marB="190440">
                    <a:lnL w="12240">
                      <a:noFill/>
                      <a:prstDash val="solid"/>
                    </a:lnL>
                    <a:lnR w="95040">
                      <a:solidFill>
                        <a:srgbClr val="13538a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440" rIns="190440" tIns="190440" bIns="190440" anchor="b">
                      <a:noAutofit/>
                    </a:bodyPr>
                    <a:p>
                      <a:pPr algn="ctr" defTabSz="914400">
                        <a:lnSpc>
                          <a:spcPts val="5598"/>
                        </a:lnSpc>
                      </a:pPr>
                      <a:r>
                        <a:rPr b="1" lang="en-US" sz="4000" spc="119" strike="noStrike" u="none">
                          <a:solidFill>
                            <a:srgbClr val="37c9ef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COMPARAR</a:t>
                      </a:r>
                      <a:endParaRPr b="0" lang="es-ES" sz="4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90440" marR="190440" marT="190440" marB="190440">
                    <a:lnL w="95040">
                      <a:solidFill>
                        <a:srgbClr val="13538a"/>
                      </a:solidFill>
                      <a:prstDash val="solid"/>
                    </a:lnL>
                    <a:lnR w="95040">
                      <a:solidFill>
                        <a:srgbClr val="13538a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440" rIns="190440" tIns="190440" bIns="190440" anchor="b">
                      <a:noAutofit/>
                    </a:bodyPr>
                    <a:p>
                      <a:pPr algn="ctr" defTabSz="914400">
                        <a:lnSpc>
                          <a:spcPts val="5598"/>
                        </a:lnSpc>
                      </a:pPr>
                      <a:r>
                        <a:rPr b="1" lang="en-US" sz="4000" spc="119" strike="noStrike" u="none">
                          <a:solidFill>
                            <a:srgbClr val="2c92d5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EXPLORAR</a:t>
                      </a:r>
                      <a:endParaRPr b="0" lang="es-ES" sz="4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90440" marR="190440" marT="190440" marB="190440">
                    <a:lnL w="95040">
                      <a:solidFill>
                        <a:srgbClr val="13538a"/>
                      </a:solidFill>
                      <a:prstDash val="solid"/>
                    </a:lnL>
                    <a:lnR w="95040">
                      <a:solidFill>
                        <a:srgbClr val="13538a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1680"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4198"/>
                        </a:lnSpc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Analizar factores asociados al nivel de ingresos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12240">
                      <a:noFill/>
                      <a:prstDash val="solid"/>
                    </a:lnL>
                    <a:lnR w="95040">
                      <a:solidFill>
                        <a:srgbClr val="13538a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4201"/>
                        </a:lnSpc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Comparar ingresos ≤ 50K vs &gt; 50K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42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95040">
                      <a:solidFill>
                        <a:srgbClr val="13538a"/>
                      </a:solidFill>
                      <a:prstDash val="solid"/>
                    </a:lnL>
                    <a:lnR w="95040">
                      <a:solidFill>
                        <a:srgbClr val="13538a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4201"/>
                        </a:lnSpc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Explorar patrones socioeconómicos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95040">
                      <a:solidFill>
                        <a:srgbClr val="13538a"/>
                      </a:solidFill>
                      <a:prstDash val="solid"/>
                    </a:lnL>
                    <a:lnR w="95040">
                      <a:solidFill>
                        <a:srgbClr val="13538a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68" name="Group 3"/>
          <p:cNvGrpSpPr/>
          <p:nvPr/>
        </p:nvGrpSpPr>
        <p:grpSpPr>
          <a:xfrm>
            <a:off x="7277400" y="1028880"/>
            <a:ext cx="3142080" cy="3142080"/>
            <a:chOff x="7277400" y="1028880"/>
            <a:chExt cx="3142080" cy="3142080"/>
          </a:xfrm>
        </p:grpSpPr>
        <p:sp>
          <p:nvSpPr>
            <p:cNvPr id="69" name="Freeform 4"/>
            <p:cNvSpPr/>
            <p:nvPr/>
          </p:nvSpPr>
          <p:spPr>
            <a:xfrm>
              <a:off x="7277400" y="1028880"/>
              <a:ext cx="3142080" cy="3142080"/>
            </a:xfrm>
            <a:custGeom>
              <a:avLst/>
              <a:gdLst>
                <a:gd name="textAreaLeft" fmla="*/ 0 w 3142080"/>
                <a:gd name="textAreaRight" fmla="*/ 3143160 w 3142080"/>
                <a:gd name="textAreaTop" fmla="*/ 0 h 3142080"/>
                <a:gd name="textAreaBottom" fmla="*/ 3143160 h 31420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w="95250">
              <a:solidFill>
                <a:srgbClr val="37c9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5"/>
            <p:cNvSpPr/>
            <p:nvPr/>
          </p:nvSpPr>
          <p:spPr>
            <a:xfrm>
              <a:off x="7572240" y="1986480"/>
              <a:ext cx="2552760" cy="188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8799"/>
                </a:lnSpc>
              </a:pPr>
              <a:r>
                <a:rPr b="1" lang="en-US" sz="8800" strike="noStrike" u="none">
                  <a:solidFill>
                    <a:srgbClr val="37c9ef"/>
                  </a:solidFill>
                  <a:effectLst/>
                  <a:uFillTx/>
                  <a:latin typeface="Aileron Ultra-Bold"/>
                  <a:ea typeface="Aileron Ultra-Bold"/>
                </a:rPr>
                <a:t>2</a:t>
              </a:r>
              <a:endParaRPr b="0" lang="es-ES" sz="8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6"/>
          <p:cNvGrpSpPr/>
          <p:nvPr/>
        </p:nvGrpSpPr>
        <p:grpSpPr>
          <a:xfrm>
            <a:off x="2989800" y="1028880"/>
            <a:ext cx="3142080" cy="3142080"/>
            <a:chOff x="2989800" y="1028880"/>
            <a:chExt cx="3142080" cy="3142080"/>
          </a:xfrm>
        </p:grpSpPr>
        <p:sp>
          <p:nvSpPr>
            <p:cNvPr id="72" name="Freeform 7"/>
            <p:cNvSpPr/>
            <p:nvPr/>
          </p:nvSpPr>
          <p:spPr>
            <a:xfrm>
              <a:off x="2989800" y="1028880"/>
              <a:ext cx="3142080" cy="3142080"/>
            </a:xfrm>
            <a:custGeom>
              <a:avLst/>
              <a:gdLst>
                <a:gd name="textAreaLeft" fmla="*/ 0 w 3142080"/>
                <a:gd name="textAreaRight" fmla="*/ 3143160 w 3142080"/>
                <a:gd name="textAreaTop" fmla="*/ 0 h 3142080"/>
                <a:gd name="textAreaBottom" fmla="*/ 3143160 h 31420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w="95250">
              <a:solidFill>
                <a:srgbClr val="2c92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8"/>
            <p:cNvSpPr/>
            <p:nvPr/>
          </p:nvSpPr>
          <p:spPr>
            <a:xfrm>
              <a:off x="3284640" y="1986480"/>
              <a:ext cx="2552760" cy="188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8799"/>
                </a:lnSpc>
              </a:pPr>
              <a:r>
                <a:rPr b="1" lang="en-US" sz="8800" strike="noStrike" u="none">
                  <a:solidFill>
                    <a:srgbClr val="2c92d5"/>
                  </a:solidFill>
                  <a:effectLst/>
                  <a:uFillTx/>
                  <a:latin typeface="Aileron Ultra-Bold"/>
                  <a:ea typeface="Aileron Ultra-Bold"/>
                </a:rPr>
                <a:t>1</a:t>
              </a:r>
              <a:endParaRPr b="0" lang="es-ES" sz="8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Group 9"/>
          <p:cNvGrpSpPr/>
          <p:nvPr/>
        </p:nvGrpSpPr>
        <p:grpSpPr>
          <a:xfrm>
            <a:off x="11564280" y="1028880"/>
            <a:ext cx="3142080" cy="3142080"/>
            <a:chOff x="11564280" y="1028880"/>
            <a:chExt cx="3142080" cy="3142080"/>
          </a:xfrm>
        </p:grpSpPr>
        <p:sp>
          <p:nvSpPr>
            <p:cNvPr id="75" name="Freeform 10"/>
            <p:cNvSpPr/>
            <p:nvPr/>
          </p:nvSpPr>
          <p:spPr>
            <a:xfrm>
              <a:off x="11564280" y="1028880"/>
              <a:ext cx="3142080" cy="3142080"/>
            </a:xfrm>
            <a:custGeom>
              <a:avLst/>
              <a:gdLst>
                <a:gd name="textAreaLeft" fmla="*/ 0 w 3142080"/>
                <a:gd name="textAreaRight" fmla="*/ 3143160 w 3142080"/>
                <a:gd name="textAreaTop" fmla="*/ 0 h 3142080"/>
                <a:gd name="textAreaBottom" fmla="*/ 3143160 h 31420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w="95250">
              <a:solidFill>
                <a:srgbClr val="2c92d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11"/>
            <p:cNvSpPr/>
            <p:nvPr/>
          </p:nvSpPr>
          <p:spPr>
            <a:xfrm>
              <a:off x="11858760" y="1986480"/>
              <a:ext cx="2552760" cy="188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8799"/>
                </a:lnSpc>
              </a:pPr>
              <a:r>
                <a:rPr b="1" lang="en-US" sz="8800" strike="noStrike" u="none">
                  <a:solidFill>
                    <a:srgbClr val="2c92d5"/>
                  </a:solidFill>
                  <a:effectLst/>
                  <a:uFillTx/>
                  <a:latin typeface="Aileron Ultra-Bold"/>
                  <a:ea typeface="Aileron Ultra-Bold"/>
                </a:rPr>
                <a:t>3</a:t>
              </a:r>
              <a:endParaRPr b="0" lang="es-ES" sz="8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" name="Table 2"/>
          <p:cNvGraphicFramePr/>
          <p:nvPr/>
        </p:nvGraphicFramePr>
        <p:xfrm>
          <a:off x="0" y="-23400"/>
          <a:ext cx="18286200" cy="10310400"/>
        </p:xfrm>
        <a:graphic>
          <a:graphicData uri="http://schemas.openxmlformats.org/drawingml/2006/table">
            <a:tbl>
              <a:tblPr/>
              <a:tblGrid>
                <a:gridCol w="3047760"/>
                <a:gridCol w="3047760"/>
                <a:gridCol w="3053160"/>
                <a:gridCol w="3042360"/>
                <a:gridCol w="3047760"/>
                <a:gridCol w="3047760"/>
              </a:tblGrid>
              <a:tr h="10310400"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Adult Census Income (EE.UU)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pc="37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Datos de población adulta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pc="37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Observaciones independientes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pc="37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Información 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pc="37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demográfica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pc="34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Información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pc="34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educativa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lIns="190440" rIns="190440" tIns="190440" bIns="190440" anchor="t">
                      <a:noAutofit/>
                    </a:bodyPr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pc="34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Información 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600"/>
                        </a:lnSpc>
                      </a:pPr>
                      <a:r>
                        <a:rPr b="1" lang="en-US" sz="2400" spc="34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laboral y económica</a:t>
                      </a:r>
                      <a:endParaRPr b="0" lang="es-E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2701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0440" marR="190440" marT="190440" marB="19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grpSp>
        <p:nvGrpSpPr>
          <p:cNvPr id="78" name="Group 3"/>
          <p:cNvGrpSpPr/>
          <p:nvPr/>
        </p:nvGrpSpPr>
        <p:grpSpPr>
          <a:xfrm>
            <a:off x="-306720" y="5950080"/>
            <a:ext cx="21504600" cy="10564200"/>
            <a:chOff x="-306720" y="5950080"/>
            <a:chExt cx="21504600" cy="10564200"/>
          </a:xfrm>
        </p:grpSpPr>
        <p:sp>
          <p:nvSpPr>
            <p:cNvPr id="79" name="Freeform 4"/>
            <p:cNvSpPr/>
            <p:nvPr/>
          </p:nvSpPr>
          <p:spPr>
            <a:xfrm rot="20770200">
              <a:off x="100800" y="8485560"/>
              <a:ext cx="20723760" cy="5633280"/>
            </a:xfrm>
            <a:custGeom>
              <a:avLst/>
              <a:gdLst>
                <a:gd name="textAreaLeft" fmla="*/ 0 w 20723760"/>
                <a:gd name="textAreaRight" fmla="*/ 20724840 w 20723760"/>
                <a:gd name="textAreaTop" fmla="*/ 0 h 5633280"/>
                <a:gd name="textAreaBottom" fmla="*/ 5634360 h 5633280"/>
              </a:gdLst>
              <a:ahLst/>
              <a:cxnLst/>
              <a:rect l="textAreaLeft" t="textAreaTop" r="textAreaRight" b="textAreaBottom"/>
              <a:pathLst>
                <a:path w="5458419" h="1483907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5"/>
            <p:cNvSpPr/>
            <p:nvPr/>
          </p:nvSpPr>
          <p:spPr>
            <a:xfrm rot="20770200">
              <a:off x="83160" y="8343360"/>
              <a:ext cx="20723760" cy="57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1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1" name="Group 6"/>
          <p:cNvGrpSpPr/>
          <p:nvPr/>
        </p:nvGrpSpPr>
        <p:grpSpPr>
          <a:xfrm>
            <a:off x="-2423520" y="-4759200"/>
            <a:ext cx="21504600" cy="10564560"/>
            <a:chOff x="-2423520" y="-4759200"/>
            <a:chExt cx="21504600" cy="10564560"/>
          </a:xfrm>
        </p:grpSpPr>
        <p:sp>
          <p:nvSpPr>
            <p:cNvPr id="82" name="Freeform 7"/>
            <p:cNvSpPr/>
            <p:nvPr/>
          </p:nvSpPr>
          <p:spPr>
            <a:xfrm rot="20770200">
              <a:off x="-2015640" y="-2223000"/>
              <a:ext cx="20723760" cy="5633280"/>
            </a:xfrm>
            <a:custGeom>
              <a:avLst/>
              <a:gdLst>
                <a:gd name="textAreaLeft" fmla="*/ 0 w 20723760"/>
                <a:gd name="textAreaRight" fmla="*/ 20724840 w 20723760"/>
                <a:gd name="textAreaTop" fmla="*/ 0 h 5633280"/>
                <a:gd name="textAreaBottom" fmla="*/ 5634360 h 5633280"/>
              </a:gdLst>
              <a:ahLst/>
              <a:cxnLst/>
              <a:rect l="textAreaLeft" t="textAreaTop" r="textAreaRight" b="textAreaBottom"/>
              <a:pathLst>
                <a:path w="5458419" h="1483907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8"/>
            <p:cNvSpPr/>
            <p:nvPr/>
          </p:nvSpPr>
          <p:spPr>
            <a:xfrm rot="20770200">
              <a:off x="-2033280" y="-2365560"/>
              <a:ext cx="20723760" cy="57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1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4" name="Group 9"/>
          <p:cNvGrpSpPr/>
          <p:nvPr/>
        </p:nvGrpSpPr>
        <p:grpSpPr>
          <a:xfrm>
            <a:off x="1028880" y="4555440"/>
            <a:ext cx="945720" cy="954000"/>
            <a:chOff x="1028880" y="4555440"/>
            <a:chExt cx="945720" cy="954000"/>
          </a:xfrm>
        </p:grpSpPr>
        <p:sp>
          <p:nvSpPr>
            <p:cNvPr id="85" name="Freeform 10"/>
            <p:cNvSpPr/>
            <p:nvPr/>
          </p:nvSpPr>
          <p:spPr>
            <a:xfrm>
              <a:off x="1028880" y="4563720"/>
              <a:ext cx="945720" cy="945720"/>
            </a:xfrm>
            <a:custGeom>
              <a:avLst/>
              <a:gdLst>
                <a:gd name="textAreaLeft" fmla="*/ 0 w 945720"/>
                <a:gd name="textAreaRight" fmla="*/ 946800 w 945720"/>
                <a:gd name="textAreaTop" fmla="*/ 0 h 945720"/>
                <a:gd name="textAreaBottom" fmla="*/ 946800 h 945720"/>
              </a:gdLst>
              <a:ahLst/>
              <a:cxnLst/>
              <a:rect l="textAreaLeft" t="textAreaTop" r="textAreaRight" b="textAreaBottom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86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11"/>
            <p:cNvSpPr/>
            <p:nvPr/>
          </p:nvSpPr>
          <p:spPr>
            <a:xfrm>
              <a:off x="1117440" y="4555440"/>
              <a:ext cx="768240" cy="86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b="1" lang="en-US" sz="2800" strike="noStrike" u="none">
                  <a:solidFill>
                    <a:srgbClr val="ffffff"/>
                  </a:solidFill>
                  <a:effectLst/>
                  <a:uFillTx/>
                  <a:latin typeface="Aileron Bold"/>
                  <a:ea typeface="Aileron Bold"/>
                </a:rPr>
                <a:t>1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AutoShape 12"/>
          <p:cNvSpPr/>
          <p:nvPr/>
        </p:nvSpPr>
        <p:spPr>
          <a:xfrm>
            <a:off x="1105920" y="5882760"/>
            <a:ext cx="792000" cy="47520"/>
          </a:xfrm>
          <a:prstGeom prst="line">
            <a:avLst/>
          </a:prstGeom>
          <a:ln w="47625">
            <a:solidFill>
              <a:srgbClr val="86eae9"/>
            </a:solidFill>
            <a:round/>
            <a:tail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13"/>
          <p:cNvGrpSpPr/>
          <p:nvPr/>
        </p:nvGrpSpPr>
        <p:grpSpPr>
          <a:xfrm>
            <a:off x="16293240" y="876240"/>
            <a:ext cx="945720" cy="954000"/>
            <a:chOff x="16293240" y="876240"/>
            <a:chExt cx="945720" cy="954000"/>
          </a:xfrm>
        </p:grpSpPr>
        <p:sp>
          <p:nvSpPr>
            <p:cNvPr id="89" name="Freeform 14"/>
            <p:cNvSpPr/>
            <p:nvPr/>
          </p:nvSpPr>
          <p:spPr>
            <a:xfrm>
              <a:off x="16293240" y="884520"/>
              <a:ext cx="945720" cy="945720"/>
            </a:xfrm>
            <a:custGeom>
              <a:avLst/>
              <a:gdLst>
                <a:gd name="textAreaLeft" fmla="*/ 0 w 945720"/>
                <a:gd name="textAreaRight" fmla="*/ 946800 w 945720"/>
                <a:gd name="textAreaTop" fmla="*/ 0 h 945720"/>
                <a:gd name="textAreaBottom" fmla="*/ 946800 h 945720"/>
              </a:gdLst>
              <a:ahLst/>
              <a:cxnLst/>
              <a:rect l="textAreaLeft" t="textAreaTop" r="textAreaRight" b="textAreaBottom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353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TextBox 15"/>
            <p:cNvSpPr/>
            <p:nvPr/>
          </p:nvSpPr>
          <p:spPr>
            <a:xfrm>
              <a:off x="16382160" y="876240"/>
              <a:ext cx="768240" cy="86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b="1" lang="en-US" sz="2800" strike="noStrike" u="none">
                  <a:solidFill>
                    <a:srgbClr val="ffffff"/>
                  </a:solidFill>
                  <a:effectLst/>
                  <a:uFillTx/>
                  <a:latin typeface="Aileron Bold"/>
                  <a:ea typeface="Aileron Bold"/>
                </a:rPr>
                <a:t>6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AutoShape 16"/>
          <p:cNvSpPr/>
          <p:nvPr/>
        </p:nvSpPr>
        <p:spPr>
          <a:xfrm>
            <a:off x="16398720" y="2175480"/>
            <a:ext cx="735840" cy="47520"/>
          </a:xfrm>
          <a:prstGeom prst="line">
            <a:avLst/>
          </a:prstGeom>
          <a:ln w="47625">
            <a:solidFill>
              <a:srgbClr val="13538a"/>
            </a:solidFill>
            <a:round/>
            <a:tail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Group 17"/>
          <p:cNvGrpSpPr/>
          <p:nvPr/>
        </p:nvGrpSpPr>
        <p:grpSpPr>
          <a:xfrm>
            <a:off x="13240440" y="1612080"/>
            <a:ext cx="945720" cy="954000"/>
            <a:chOff x="13240440" y="1612080"/>
            <a:chExt cx="945720" cy="954000"/>
          </a:xfrm>
        </p:grpSpPr>
        <p:sp>
          <p:nvSpPr>
            <p:cNvPr id="93" name="Freeform 18"/>
            <p:cNvSpPr/>
            <p:nvPr/>
          </p:nvSpPr>
          <p:spPr>
            <a:xfrm>
              <a:off x="13240440" y="1620360"/>
              <a:ext cx="945720" cy="945720"/>
            </a:xfrm>
            <a:custGeom>
              <a:avLst/>
              <a:gdLst>
                <a:gd name="textAreaLeft" fmla="*/ 0 w 945720"/>
                <a:gd name="textAreaRight" fmla="*/ 946800 w 945720"/>
                <a:gd name="textAreaTop" fmla="*/ 0 h 945720"/>
                <a:gd name="textAreaBottom" fmla="*/ 946800 h 945720"/>
              </a:gdLst>
              <a:ahLst/>
              <a:cxnLst/>
              <a:rect l="textAreaLeft" t="textAreaTop" r="textAreaRight" b="textAreaBottom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c88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Box 19"/>
            <p:cNvSpPr/>
            <p:nvPr/>
          </p:nvSpPr>
          <p:spPr>
            <a:xfrm>
              <a:off x="13329360" y="1612080"/>
              <a:ext cx="768240" cy="86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b="1" lang="en-US" sz="2800" strike="noStrike" u="none">
                  <a:solidFill>
                    <a:srgbClr val="ffffff"/>
                  </a:solidFill>
                  <a:effectLst/>
                  <a:uFillTx/>
                  <a:latin typeface="Aileron Bold"/>
                  <a:ea typeface="Aileron Bold"/>
                </a:rPr>
                <a:t>5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AutoShape 20"/>
          <p:cNvSpPr/>
          <p:nvPr/>
        </p:nvSpPr>
        <p:spPr>
          <a:xfrm>
            <a:off x="13345920" y="2911320"/>
            <a:ext cx="735840" cy="47520"/>
          </a:xfrm>
          <a:prstGeom prst="line">
            <a:avLst/>
          </a:prstGeom>
          <a:ln w="47625">
            <a:solidFill>
              <a:srgbClr val="1c88cf"/>
            </a:solidFill>
            <a:round/>
            <a:tail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6" name="Group 21"/>
          <p:cNvGrpSpPr/>
          <p:nvPr/>
        </p:nvGrpSpPr>
        <p:grpSpPr>
          <a:xfrm>
            <a:off x="10187640" y="2347920"/>
            <a:ext cx="945720" cy="954000"/>
            <a:chOff x="10187640" y="2347920"/>
            <a:chExt cx="945720" cy="954000"/>
          </a:xfrm>
        </p:grpSpPr>
        <p:sp>
          <p:nvSpPr>
            <p:cNvPr id="97" name="Freeform 22"/>
            <p:cNvSpPr/>
            <p:nvPr/>
          </p:nvSpPr>
          <p:spPr>
            <a:xfrm>
              <a:off x="10187640" y="2356200"/>
              <a:ext cx="945720" cy="945720"/>
            </a:xfrm>
            <a:custGeom>
              <a:avLst/>
              <a:gdLst>
                <a:gd name="textAreaLeft" fmla="*/ 0 w 945720"/>
                <a:gd name="textAreaRight" fmla="*/ 946800 w 945720"/>
                <a:gd name="textAreaTop" fmla="*/ 0 h 945720"/>
                <a:gd name="textAreaBottom" fmla="*/ 946800 h 945720"/>
              </a:gdLst>
              <a:ahLst/>
              <a:cxnLst/>
              <a:rect l="textAreaLeft" t="textAreaTop" r="textAreaRight" b="textAreaBottom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8af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TextBox 23"/>
            <p:cNvSpPr/>
            <p:nvPr/>
          </p:nvSpPr>
          <p:spPr>
            <a:xfrm>
              <a:off x="10276200" y="2347920"/>
              <a:ext cx="768240" cy="86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b="1" lang="en-US" sz="2800" strike="noStrike" u="none">
                  <a:solidFill>
                    <a:srgbClr val="ffffff"/>
                  </a:solidFill>
                  <a:effectLst/>
                  <a:uFillTx/>
                  <a:latin typeface="Aileron Bold"/>
                  <a:ea typeface="Aileron Bold"/>
                </a:rPr>
                <a:t>4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" name="AutoShape 24"/>
          <p:cNvSpPr/>
          <p:nvPr/>
        </p:nvSpPr>
        <p:spPr>
          <a:xfrm>
            <a:off x="10292760" y="3647160"/>
            <a:ext cx="735840" cy="47520"/>
          </a:xfrm>
          <a:prstGeom prst="line">
            <a:avLst/>
          </a:prstGeom>
          <a:ln w="47625">
            <a:solidFill>
              <a:srgbClr val="18afd6"/>
            </a:solidFill>
            <a:round/>
            <a:tail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Group 25"/>
          <p:cNvGrpSpPr/>
          <p:nvPr/>
        </p:nvGrpSpPr>
        <p:grpSpPr>
          <a:xfrm>
            <a:off x="7134480" y="3083760"/>
            <a:ext cx="945720" cy="954000"/>
            <a:chOff x="7134480" y="3083760"/>
            <a:chExt cx="945720" cy="954000"/>
          </a:xfrm>
        </p:grpSpPr>
        <p:sp>
          <p:nvSpPr>
            <p:cNvPr id="101" name="Freeform 26"/>
            <p:cNvSpPr/>
            <p:nvPr/>
          </p:nvSpPr>
          <p:spPr>
            <a:xfrm>
              <a:off x="7134480" y="3092040"/>
              <a:ext cx="945720" cy="945720"/>
            </a:xfrm>
            <a:custGeom>
              <a:avLst/>
              <a:gdLst>
                <a:gd name="textAreaLeft" fmla="*/ 0 w 945720"/>
                <a:gd name="textAreaRight" fmla="*/ 946800 w 945720"/>
                <a:gd name="textAreaTop" fmla="*/ 0 h 945720"/>
                <a:gd name="textAreaBottom" fmla="*/ 946800 h 945720"/>
              </a:gdLst>
              <a:ahLst/>
              <a:cxnLst/>
              <a:rect l="textAreaLeft" t="textAreaTop" r="textAreaRight" b="textAreaBottom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37c9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TextBox 27"/>
            <p:cNvSpPr/>
            <p:nvPr/>
          </p:nvSpPr>
          <p:spPr>
            <a:xfrm>
              <a:off x="7223400" y="3083760"/>
              <a:ext cx="768240" cy="86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b="1" lang="en-US" sz="2800" strike="noStrike" u="none">
                  <a:solidFill>
                    <a:srgbClr val="ffffff"/>
                  </a:solidFill>
                  <a:effectLst/>
                  <a:uFillTx/>
                  <a:latin typeface="Aileron Bold"/>
                  <a:ea typeface="Aileron Bold"/>
                </a:rPr>
                <a:t>3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AutoShape 28"/>
          <p:cNvSpPr/>
          <p:nvPr/>
        </p:nvSpPr>
        <p:spPr>
          <a:xfrm>
            <a:off x="7239960" y="4383000"/>
            <a:ext cx="735840" cy="47520"/>
          </a:xfrm>
          <a:prstGeom prst="line">
            <a:avLst/>
          </a:prstGeom>
          <a:ln w="47625">
            <a:solidFill>
              <a:srgbClr val="37c9ef"/>
            </a:solidFill>
            <a:round/>
            <a:tail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Group 29"/>
          <p:cNvGrpSpPr/>
          <p:nvPr/>
        </p:nvGrpSpPr>
        <p:grpSpPr>
          <a:xfrm>
            <a:off x="4081680" y="3819600"/>
            <a:ext cx="945720" cy="954000"/>
            <a:chOff x="4081680" y="3819600"/>
            <a:chExt cx="945720" cy="954000"/>
          </a:xfrm>
        </p:grpSpPr>
        <p:sp>
          <p:nvSpPr>
            <p:cNvPr id="105" name="Freeform 30"/>
            <p:cNvSpPr/>
            <p:nvPr/>
          </p:nvSpPr>
          <p:spPr>
            <a:xfrm>
              <a:off x="4081680" y="3827880"/>
              <a:ext cx="945720" cy="945720"/>
            </a:xfrm>
            <a:custGeom>
              <a:avLst/>
              <a:gdLst>
                <a:gd name="textAreaLeft" fmla="*/ 0 w 945720"/>
                <a:gd name="textAreaRight" fmla="*/ 946800 w 945720"/>
                <a:gd name="textAreaTop" fmla="*/ 0 h 945720"/>
                <a:gd name="textAreaBottom" fmla="*/ 946800 h 945720"/>
              </a:gdLst>
              <a:ahLst/>
              <a:cxnLst/>
              <a:rect l="textAreaLeft" t="textAreaTop" r="textAreaRight" b="textAreaBottom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3eda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TextBox 31"/>
            <p:cNvSpPr/>
            <p:nvPr/>
          </p:nvSpPr>
          <p:spPr>
            <a:xfrm>
              <a:off x="4170240" y="3819600"/>
              <a:ext cx="768240" cy="86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b="1" lang="en-US" sz="2800" strike="noStrike" u="none">
                  <a:solidFill>
                    <a:srgbClr val="ffffff"/>
                  </a:solidFill>
                  <a:effectLst/>
                  <a:uFillTx/>
                  <a:latin typeface="Aileron Bold"/>
                  <a:ea typeface="Aileron Bold"/>
                </a:rPr>
                <a:t>2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AutoShape 32"/>
          <p:cNvSpPr/>
          <p:nvPr/>
        </p:nvSpPr>
        <p:spPr>
          <a:xfrm>
            <a:off x="4186800" y="5118840"/>
            <a:ext cx="735840" cy="47520"/>
          </a:xfrm>
          <a:prstGeom prst="line">
            <a:avLst/>
          </a:prstGeom>
          <a:ln w="47625">
            <a:solidFill>
              <a:srgbClr val="3edad8"/>
            </a:solidFill>
            <a:round/>
            <a:tail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3"/>
          <p:cNvSpPr/>
          <p:nvPr/>
        </p:nvSpPr>
        <p:spPr>
          <a:xfrm>
            <a:off x="1050480" y="995760"/>
            <a:ext cx="7231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b="1" lang="en-US" sz="3600" spc="108" strike="noStrike" u="none">
                <a:solidFill>
                  <a:srgbClr val="191919"/>
                </a:solidFill>
                <a:effectLst/>
                <a:uFillTx/>
                <a:latin typeface="Aileron Ultra-Bold"/>
                <a:ea typeface="Aileron Ultra-Bold"/>
              </a:rPr>
              <a:t>DESCRIPCIÓN DEL DATASET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2"/>
          <p:cNvGrpSpPr/>
          <p:nvPr/>
        </p:nvGrpSpPr>
        <p:grpSpPr>
          <a:xfrm>
            <a:off x="6000840" y="3178080"/>
            <a:ext cx="3142080" cy="3756960"/>
            <a:chOff x="6000840" y="3178080"/>
            <a:chExt cx="3142080" cy="3756960"/>
          </a:xfrm>
        </p:grpSpPr>
        <p:sp>
          <p:nvSpPr>
            <p:cNvPr id="110" name="Freeform 3"/>
            <p:cNvSpPr/>
            <p:nvPr/>
          </p:nvSpPr>
          <p:spPr>
            <a:xfrm>
              <a:off x="6000840" y="3792960"/>
              <a:ext cx="3142080" cy="3142080"/>
            </a:xfrm>
            <a:custGeom>
              <a:avLst/>
              <a:gdLst>
                <a:gd name="textAreaLeft" fmla="*/ 0 w 3142080"/>
                <a:gd name="textAreaRight" fmla="*/ 3143160 w 3142080"/>
                <a:gd name="textAreaTop" fmla="*/ 0 h 3142080"/>
                <a:gd name="textAreaBottom" fmla="*/ 3143160 h 3142080"/>
              </a:gdLst>
              <a:ahLst/>
              <a:cxnLst/>
              <a:rect l="textAreaLeft" t="textAreaTop" r="textAreaRight" b="textAreaBottom"/>
              <a:pathLst>
                <a:path w="827852" h="827852">
                  <a:moveTo>
                    <a:pt x="0" y="0"/>
                  </a:moveTo>
                  <a:lnTo>
                    <a:pt x="827852" y="0"/>
                  </a:lnTo>
                  <a:lnTo>
                    <a:pt x="827852" y="827852"/>
                  </a:lnTo>
                  <a:lnTo>
                    <a:pt x="0" y="827852"/>
                  </a:lnTo>
                  <a:close/>
                </a:path>
              </a:pathLst>
            </a:custGeom>
            <a:solidFill>
              <a:srgbClr val="2c92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4"/>
            <p:cNvSpPr/>
            <p:nvPr/>
          </p:nvSpPr>
          <p:spPr>
            <a:xfrm>
              <a:off x="6000840" y="3178080"/>
              <a:ext cx="3142080" cy="375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1480"/>
                </a:lnSpc>
              </a:pPr>
              <a:r>
                <a:rPr b="1" lang="en-US" sz="8200" strike="noStrike" u="none">
                  <a:solidFill>
                    <a:srgbClr val="ffffff"/>
                  </a:solidFill>
                  <a:effectLst/>
                  <a:uFillTx/>
                  <a:latin typeface="Aileron Ultra-Bold"/>
                  <a:ea typeface="Aileron Ultra-Bold"/>
                </a:rPr>
                <a:t>≤ 50K</a:t>
              </a:r>
              <a:endParaRPr b="0" lang="es-ES" sz="8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Freeform 5"/>
          <p:cNvSpPr/>
          <p:nvPr/>
        </p:nvSpPr>
        <p:spPr>
          <a:xfrm rot="16200000">
            <a:off x="6039720" y="6273720"/>
            <a:ext cx="623160" cy="701280"/>
          </a:xfrm>
          <a:custGeom>
            <a:avLst/>
            <a:gdLst>
              <a:gd name="textAreaLeft" fmla="*/ 0 w 623160"/>
              <a:gd name="textAreaRight" fmla="*/ 624240 w 623160"/>
              <a:gd name="textAreaTop" fmla="*/ 0 h 701280"/>
              <a:gd name="textAreaBottom" fmla="*/ 702360 h 701280"/>
            </a:gdLst>
            <a:ahLst/>
            <a:cxnLst/>
            <a:rect l="textAreaLeft" t="textAreaTop" r="textAreaRight" b="textAreaBottom"/>
            <a:pathLst>
              <a:path w="624367" h="702253">
                <a:moveTo>
                  <a:pt x="0" y="0"/>
                </a:moveTo>
                <a:lnTo>
                  <a:pt x="624367" y="0"/>
                </a:lnTo>
                <a:lnTo>
                  <a:pt x="624367" y="702253"/>
                </a:lnTo>
                <a:lnTo>
                  <a:pt x="0" y="7022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Group 6"/>
          <p:cNvGrpSpPr/>
          <p:nvPr/>
        </p:nvGrpSpPr>
        <p:grpSpPr>
          <a:xfrm>
            <a:off x="1028880" y="4408200"/>
            <a:ext cx="4190040" cy="1748520"/>
            <a:chOff x="1028880" y="4408200"/>
            <a:chExt cx="4190040" cy="1748520"/>
          </a:xfrm>
        </p:grpSpPr>
        <p:sp>
          <p:nvSpPr>
            <p:cNvPr id="114" name="TextBox 7"/>
            <p:cNvSpPr/>
            <p:nvPr/>
          </p:nvSpPr>
          <p:spPr>
            <a:xfrm>
              <a:off x="1028880" y="4408200"/>
              <a:ext cx="4190040" cy="44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ts val="3640"/>
                </a:lnSpc>
              </a:pPr>
              <a:r>
                <a:rPr b="1" lang="en-US" sz="2800" spc="85" strike="noStrike" u="none">
                  <a:solidFill>
                    <a:srgbClr val="2c92d5"/>
                  </a:solidFill>
                  <a:effectLst/>
                  <a:uFillTx/>
                  <a:latin typeface="Aileron Bold"/>
                  <a:ea typeface="Aileron Bold"/>
                </a:rPr>
                <a:t>INCOME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8"/>
            <p:cNvSpPr/>
            <p:nvPr/>
          </p:nvSpPr>
          <p:spPr>
            <a:xfrm>
              <a:off x="1028880" y="5013360"/>
              <a:ext cx="4190040" cy="114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474840" indent="-237600" algn="r" defTabSz="914400">
                <a:lnSpc>
                  <a:spcPts val="3081"/>
                </a:lnSpc>
                <a:buClr>
                  <a:srgbClr val="191919"/>
                </a:buClr>
                <a:buFont typeface="Arial"/>
                <a:buChar char="•"/>
              </a:pPr>
              <a:r>
                <a:rPr b="0" lang="en-US" sz="2200" spc="34" strike="noStrike" u="none">
                  <a:solidFill>
                    <a:srgbClr val="191919"/>
                  </a:solidFill>
                  <a:effectLst/>
                  <a:uFillTx/>
                  <a:latin typeface="Aileron"/>
                  <a:ea typeface="Aileron"/>
                </a:rPr>
                <a:t>≤ 50K → Ingresos ≤ 50.000 $</a:t>
              </a:r>
              <a:endParaRPr b="0" lang="es-E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lvl="1" marL="474840" indent="-237600" algn="r" defTabSz="914400">
                <a:lnSpc>
                  <a:spcPts val="3081"/>
                </a:lnSpc>
                <a:buClr>
                  <a:srgbClr val="191919"/>
                </a:buClr>
                <a:buFont typeface="Arial"/>
                <a:buChar char="•"/>
              </a:pPr>
              <a:r>
                <a:rPr b="0" lang="en-US" sz="2200" spc="34" strike="noStrike" u="none">
                  <a:solidFill>
                    <a:srgbClr val="191919"/>
                  </a:solidFill>
                  <a:effectLst/>
                  <a:uFillTx/>
                  <a:latin typeface="Aileron"/>
                  <a:ea typeface="Aileron"/>
                </a:rPr>
                <a:t>50K → Ingresos &gt; 50.000 $</a:t>
              </a:r>
              <a:endParaRPr b="0" lang="es-E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r" defTabSz="914400">
                <a:lnSpc>
                  <a:spcPts val="3081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TextBox 9"/>
          <p:cNvSpPr/>
          <p:nvPr/>
        </p:nvSpPr>
        <p:spPr>
          <a:xfrm>
            <a:off x="13068360" y="4563360"/>
            <a:ext cx="419004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b="1" lang="en-US" sz="2800" spc="85" strike="noStrike" u="none">
                <a:solidFill>
                  <a:srgbClr val="2c92d5"/>
                </a:solidFill>
                <a:effectLst/>
                <a:uFillTx/>
                <a:latin typeface="Aileron Bold"/>
                <a:ea typeface="Aileron Bold"/>
              </a:rPr>
              <a:t>VARIABLE CATEGÓRICA BINARIA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" name="Group 10"/>
          <p:cNvGrpSpPr/>
          <p:nvPr/>
        </p:nvGrpSpPr>
        <p:grpSpPr>
          <a:xfrm>
            <a:off x="9144000" y="3178080"/>
            <a:ext cx="3142080" cy="3756960"/>
            <a:chOff x="9144000" y="3178080"/>
            <a:chExt cx="3142080" cy="3756960"/>
          </a:xfrm>
        </p:grpSpPr>
        <p:sp>
          <p:nvSpPr>
            <p:cNvPr id="118" name="Freeform 11"/>
            <p:cNvSpPr/>
            <p:nvPr/>
          </p:nvSpPr>
          <p:spPr>
            <a:xfrm>
              <a:off x="9144000" y="3792960"/>
              <a:ext cx="3142080" cy="3142080"/>
            </a:xfrm>
            <a:custGeom>
              <a:avLst/>
              <a:gdLst>
                <a:gd name="textAreaLeft" fmla="*/ 0 w 3142080"/>
                <a:gd name="textAreaRight" fmla="*/ 3143160 w 3142080"/>
                <a:gd name="textAreaTop" fmla="*/ 0 h 3142080"/>
                <a:gd name="textAreaBottom" fmla="*/ 3143160 h 3142080"/>
              </a:gdLst>
              <a:ahLst/>
              <a:cxnLst/>
              <a:rect l="textAreaLeft" t="textAreaTop" r="textAreaRight" b="textAreaBottom"/>
              <a:pathLst>
                <a:path w="827852" h="827852">
                  <a:moveTo>
                    <a:pt x="0" y="0"/>
                  </a:moveTo>
                  <a:lnTo>
                    <a:pt x="827852" y="0"/>
                  </a:lnTo>
                  <a:lnTo>
                    <a:pt x="827852" y="827852"/>
                  </a:lnTo>
                  <a:lnTo>
                    <a:pt x="0" y="827852"/>
                  </a:lnTo>
                  <a:close/>
                </a:path>
              </a:pathLst>
            </a:custGeom>
            <a:solidFill>
              <a:srgbClr val="37c9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12"/>
            <p:cNvSpPr/>
            <p:nvPr/>
          </p:nvSpPr>
          <p:spPr>
            <a:xfrm>
              <a:off x="9144000" y="3178080"/>
              <a:ext cx="3142080" cy="375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1480"/>
                </a:lnSpc>
              </a:pPr>
              <a:r>
                <a:rPr b="1" lang="en-US" sz="8200" strike="noStrike" u="none">
                  <a:solidFill>
                    <a:srgbClr val="ffffff"/>
                  </a:solidFill>
                  <a:effectLst/>
                  <a:uFillTx/>
                  <a:latin typeface="Aileron Ultra-Bold"/>
                  <a:ea typeface="Aileron Ultra-Bold"/>
                </a:rPr>
                <a:t>50K</a:t>
              </a:r>
              <a:endParaRPr b="0" lang="es-ES" sz="8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" name="Freeform 13"/>
          <p:cNvSpPr/>
          <p:nvPr/>
        </p:nvSpPr>
        <p:spPr>
          <a:xfrm>
            <a:off x="9144000" y="2000160"/>
            <a:ext cx="623160" cy="701280"/>
          </a:xfrm>
          <a:custGeom>
            <a:avLst/>
            <a:gdLst>
              <a:gd name="textAreaLeft" fmla="*/ 0 w 623160"/>
              <a:gd name="textAreaRight" fmla="*/ 624240 w 623160"/>
              <a:gd name="textAreaTop" fmla="*/ 0 h 701280"/>
              <a:gd name="textAreaBottom" fmla="*/ 702360 h 701280"/>
            </a:gdLst>
            <a:ahLst/>
            <a:cxnLst/>
            <a:rect l="textAreaLeft" t="textAreaTop" r="textAreaRight" b="textAreaBottom"/>
            <a:pathLst>
              <a:path w="624367" h="702253">
                <a:moveTo>
                  <a:pt x="0" y="0"/>
                </a:moveTo>
                <a:lnTo>
                  <a:pt x="624367" y="0"/>
                </a:lnTo>
                <a:lnTo>
                  <a:pt x="624367" y="702253"/>
                </a:lnTo>
                <a:lnTo>
                  <a:pt x="0" y="7022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Freeform 14"/>
          <p:cNvSpPr/>
          <p:nvPr/>
        </p:nvSpPr>
        <p:spPr>
          <a:xfrm rot="10800000">
            <a:off x="11664000" y="6312960"/>
            <a:ext cx="623160" cy="701280"/>
          </a:xfrm>
          <a:custGeom>
            <a:avLst/>
            <a:gdLst>
              <a:gd name="textAreaLeft" fmla="*/ 0 w 623160"/>
              <a:gd name="textAreaRight" fmla="*/ 624240 w 623160"/>
              <a:gd name="textAreaTop" fmla="*/ 0 h 701280"/>
              <a:gd name="textAreaBottom" fmla="*/ 702360 h 701280"/>
            </a:gdLst>
            <a:ahLst/>
            <a:cxnLst/>
            <a:rect l="textAreaLeft" t="textAreaTop" r="textAreaRight" b="textAreaBottom"/>
            <a:pathLst>
              <a:path w="624367" h="702253">
                <a:moveTo>
                  <a:pt x="0" y="0"/>
                </a:moveTo>
                <a:lnTo>
                  <a:pt x="624367" y="0"/>
                </a:lnTo>
                <a:lnTo>
                  <a:pt x="624367" y="702253"/>
                </a:lnTo>
                <a:lnTo>
                  <a:pt x="0" y="7022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5"/>
          <p:cNvSpPr/>
          <p:nvPr/>
        </p:nvSpPr>
        <p:spPr>
          <a:xfrm>
            <a:off x="1050480" y="995760"/>
            <a:ext cx="7231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20"/>
              </a:lnSpc>
            </a:pPr>
            <a:r>
              <a:rPr b="1" lang="en-US" sz="3600" spc="108" strike="noStrike" u="none">
                <a:solidFill>
                  <a:srgbClr val="191919"/>
                </a:solidFill>
                <a:effectLst/>
                <a:uFillTx/>
                <a:latin typeface="Aileron Ultra-Bold"/>
                <a:ea typeface="Aileron Ultra-Bold"/>
              </a:rPr>
              <a:t>VARIABLE OBJETIVO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2"/>
          <p:cNvGrpSpPr/>
          <p:nvPr/>
        </p:nvGrpSpPr>
        <p:grpSpPr>
          <a:xfrm>
            <a:off x="0" y="-144720"/>
            <a:ext cx="6267960" cy="10430640"/>
            <a:chOff x="0" y="-144720"/>
            <a:chExt cx="6267960" cy="10430640"/>
          </a:xfrm>
        </p:grpSpPr>
        <p:sp>
          <p:nvSpPr>
            <p:cNvPr id="124" name="Freeform 3"/>
            <p:cNvSpPr/>
            <p:nvPr/>
          </p:nvSpPr>
          <p:spPr>
            <a:xfrm>
              <a:off x="0" y="0"/>
              <a:ext cx="6267960" cy="10285920"/>
            </a:xfrm>
            <a:custGeom>
              <a:avLst/>
              <a:gdLst>
                <a:gd name="textAreaLeft" fmla="*/ 0 w 6267960"/>
                <a:gd name="textAreaRight" fmla="*/ 6269040 w 6267960"/>
                <a:gd name="textAreaTop" fmla="*/ 0 h 10285920"/>
                <a:gd name="textAreaBottom" fmla="*/ 10287000 h 10285920"/>
              </a:gdLst>
              <a:ahLst/>
              <a:cxnLst/>
              <a:rect l="textAreaLeft" t="textAreaTop" r="textAreaRight" b="textAreaBottom"/>
              <a:pathLst>
                <a:path w="1651092" h="2709333">
                  <a:moveTo>
                    <a:pt x="0" y="0"/>
                  </a:moveTo>
                  <a:lnTo>
                    <a:pt x="1651092" y="0"/>
                  </a:lnTo>
                  <a:lnTo>
                    <a:pt x="16510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53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TextBox 4"/>
            <p:cNvSpPr/>
            <p:nvPr/>
          </p:nvSpPr>
          <p:spPr>
            <a:xfrm>
              <a:off x="0" y="-144720"/>
              <a:ext cx="6267960" cy="1043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081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26" name="Picture 5" descr=""/>
          <p:cNvPicPr/>
          <p:nvPr/>
        </p:nvPicPr>
        <p:blipFill>
          <a:blip r:embed="rId1"/>
          <a:stretch/>
        </p:blipFill>
        <p:spPr>
          <a:xfrm>
            <a:off x="8282520" y="676800"/>
            <a:ext cx="8235720" cy="82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6"/>
          <p:cNvSpPr/>
          <p:nvPr/>
        </p:nvSpPr>
        <p:spPr>
          <a:xfrm>
            <a:off x="355320" y="5762520"/>
            <a:ext cx="555696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63"/>
              </a:lnSpc>
              <a:tabLst>
                <a:tab algn="l" pos="0"/>
              </a:tabLst>
            </a:pPr>
            <a:r>
              <a:rPr b="0" lang="en-US" sz="3040" spc="45" strike="noStrike" u="none">
                <a:solidFill>
                  <a:srgbClr val="ffffff"/>
                </a:solidFill>
                <a:effectLst/>
                <a:uFillTx/>
                <a:latin typeface="Aileron"/>
                <a:ea typeface="Aileron"/>
              </a:rPr>
              <a:t>Desbalance moderado</a:t>
            </a:r>
            <a:endParaRPr b="0" lang="es-ES" sz="3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355320" y="3455640"/>
            <a:ext cx="5556960" cy="20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903"/>
              </a:lnSpc>
            </a:pPr>
            <a:r>
              <a:rPr b="1" lang="en-US" sz="7190" strike="noStrike" u="none">
                <a:solidFill>
                  <a:srgbClr val="ffffff"/>
                </a:solidFill>
                <a:effectLst/>
                <a:uFillTx/>
                <a:latin typeface="Aileron Bold"/>
                <a:ea typeface="Aileron Bold"/>
              </a:rPr>
              <a:t>Distribución de ingresos</a:t>
            </a:r>
            <a:endParaRPr b="0" lang="es-ES" sz="7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2"/>
          <p:cNvGrpSpPr/>
          <p:nvPr/>
        </p:nvGrpSpPr>
        <p:grpSpPr>
          <a:xfrm>
            <a:off x="2000160" y="1021680"/>
            <a:ext cx="14286960" cy="1165320"/>
            <a:chOff x="2000160" y="1021680"/>
            <a:chExt cx="14286960" cy="1165320"/>
          </a:xfrm>
        </p:grpSpPr>
        <p:sp>
          <p:nvSpPr>
            <p:cNvPr id="130" name="TextBox 3"/>
            <p:cNvSpPr/>
            <p:nvPr/>
          </p:nvSpPr>
          <p:spPr>
            <a:xfrm>
              <a:off x="2000160" y="1870920"/>
              <a:ext cx="14286960" cy="316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701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1" name="TextBox 4"/>
            <p:cNvSpPr/>
            <p:nvPr/>
          </p:nvSpPr>
          <p:spPr>
            <a:xfrm>
              <a:off x="2000160" y="1021680"/>
              <a:ext cx="14286960" cy="76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6001"/>
                </a:lnSpc>
              </a:pPr>
              <a:r>
                <a:rPr b="1" lang="en-US" sz="5000" strike="noStrike" u="none">
                  <a:solidFill>
                    <a:srgbClr val="191919"/>
                  </a:solidFill>
                  <a:effectLst/>
                  <a:uFillTx/>
                  <a:latin typeface="Aileron Bold"/>
                  <a:ea typeface="Aileron Bold"/>
                </a:rPr>
                <a:t>VARIABLES ANALIZADAS</a:t>
              </a:r>
              <a:endParaRPr b="0" lang="es-ES" sz="5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132" name="Table 5"/>
          <p:cNvGraphicFramePr/>
          <p:nvPr/>
        </p:nvGraphicFramePr>
        <p:xfrm>
          <a:off x="3764160" y="4699080"/>
          <a:ext cx="11352600" cy="4853160"/>
        </p:xfrm>
        <a:graphic>
          <a:graphicData uri="http://schemas.openxmlformats.org/drawingml/2006/table">
            <a:tbl>
              <a:tblPr/>
              <a:tblGrid>
                <a:gridCol w="3784320"/>
                <a:gridCol w="3784320"/>
                <a:gridCol w="3784320"/>
              </a:tblGrid>
              <a:tr h="4853160"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900"/>
                        </a:lnSpc>
                      </a:pPr>
                      <a:r>
                        <a:rPr b="1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VARIABLES DEMOGRÁFICAS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900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lvl="1" marL="647640" indent="-324000" algn="ctr" defTabSz="914400">
                        <a:lnSpc>
                          <a:spcPts val="3900"/>
                        </a:lnSpc>
                        <a:buClr>
                          <a:srgbClr val="191919"/>
                        </a:buClr>
                        <a:buFont typeface="Arial"/>
                        <a:buChar char="•"/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EDAD, SEXO, RAZA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lvl="1" marL="647640" indent="-324000" algn="ctr" defTabSz="914400">
                        <a:lnSpc>
                          <a:spcPts val="3900"/>
                        </a:lnSpc>
                        <a:buClr>
                          <a:srgbClr val="191919"/>
                        </a:buClr>
                        <a:buFont typeface="Arial"/>
                        <a:buChar char="•"/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País de origen, estado civil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900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900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 w="47520">
                      <a:solidFill>
                        <a:srgbClr val="edf0f2"/>
                      </a:solidFill>
                      <a:prstDash val="solid"/>
                    </a:lnL>
                    <a:lnR w="47520">
                      <a:solidFill>
                        <a:srgbClr val="edf0f2"/>
                      </a:solidFill>
                      <a:prstDash val="solid"/>
                    </a:lnR>
                    <a:lnT w="47520">
                      <a:solidFill>
                        <a:srgbClr val="edf0f2"/>
                      </a:solidFill>
                      <a:prstDash val="solid"/>
                    </a:lnT>
                    <a:lnB w="47520">
                      <a:solidFill>
                        <a:srgbClr val="edf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900"/>
                        </a:lnSpc>
                      </a:pPr>
                      <a:r>
                        <a:rPr b="1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VARIABLES EDUCATIVOS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900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lvl="1" marL="647640" indent="-324000" algn="ctr" defTabSz="914400">
                        <a:lnSpc>
                          <a:spcPts val="3900"/>
                        </a:lnSpc>
                        <a:buClr>
                          <a:srgbClr val="191919"/>
                        </a:buClr>
                        <a:buFont typeface="Arial"/>
                        <a:buChar char="•"/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NIVEL EDUCATIVO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lvl="1" marL="647640" indent="-324000" algn="ctr" defTabSz="914400">
                        <a:lnSpc>
                          <a:spcPts val="3900"/>
                        </a:lnSpc>
                        <a:buClr>
                          <a:srgbClr val="191919"/>
                        </a:buClr>
                        <a:buFont typeface="Arial"/>
                        <a:buChar char="•"/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Años de educación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 w="47520">
                      <a:solidFill>
                        <a:srgbClr val="edf0f2"/>
                      </a:solidFill>
                      <a:prstDash val="solid"/>
                    </a:lnL>
                    <a:lnR w="47520">
                      <a:solidFill>
                        <a:srgbClr val="edf0f2"/>
                      </a:solidFill>
                      <a:prstDash val="solid"/>
                    </a:lnR>
                    <a:lnT w="47520">
                      <a:solidFill>
                        <a:srgbClr val="edf0f2"/>
                      </a:solidFill>
                      <a:prstDash val="solid"/>
                    </a:lnT>
                    <a:lnB w="47520">
                      <a:solidFill>
                        <a:srgbClr val="edf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900"/>
                        </a:lnSpc>
                      </a:pPr>
                      <a:r>
                        <a:rPr b="1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 Bold"/>
                          <a:ea typeface="Aileron Bold"/>
                        </a:rPr>
                        <a:t>VARIABLES LABORALES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3900"/>
                        </a:lnSpc>
                      </a:pPr>
                      <a:endParaRPr b="0" lang="es-E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lvl="1" marL="647640" indent="-324000" algn="ctr" defTabSz="914400">
                        <a:lnSpc>
                          <a:spcPts val="3900"/>
                        </a:lnSpc>
                        <a:buClr>
                          <a:srgbClr val="191919"/>
                        </a:buClr>
                        <a:buFont typeface="Arial"/>
                        <a:buChar char="•"/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Ocupación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lvl="1" marL="647640" indent="-324000" algn="ctr" defTabSz="914400">
                        <a:lnSpc>
                          <a:spcPts val="3900"/>
                        </a:lnSpc>
                        <a:buClr>
                          <a:srgbClr val="191919"/>
                        </a:buClr>
                        <a:buFont typeface="Arial"/>
                        <a:buChar char="•"/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Tipo de empleo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lvl="1" marL="647640" indent="-324000" algn="ctr" defTabSz="914400">
                        <a:lnSpc>
                          <a:spcPts val="3900"/>
                        </a:lnSpc>
                        <a:buClr>
                          <a:srgbClr val="191919"/>
                        </a:buClr>
                        <a:buFont typeface="Arial"/>
                        <a:buChar char="•"/>
                      </a:pPr>
                      <a:r>
                        <a:rPr b="0" lang="en-US" sz="3000" spc="45" strike="noStrike" u="none">
                          <a:solidFill>
                            <a:srgbClr val="191919"/>
                          </a:solidFill>
                          <a:effectLst/>
                          <a:uFillTx/>
                          <a:latin typeface="Aileron"/>
                          <a:ea typeface="Aileron"/>
                        </a:rPr>
                        <a:t>Horas trabajadas</a:t>
                      </a:r>
                      <a:endParaRPr b="0" lang="es-ES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 w="47520">
                      <a:solidFill>
                        <a:srgbClr val="edf0f2"/>
                      </a:solidFill>
                      <a:prstDash val="solid"/>
                    </a:lnL>
                    <a:lnR w="47520">
                      <a:solidFill>
                        <a:srgbClr val="edf0f2"/>
                      </a:solidFill>
                      <a:prstDash val="solid"/>
                    </a:lnR>
                    <a:lnT w="47520">
                      <a:solidFill>
                        <a:srgbClr val="edf0f2"/>
                      </a:solidFill>
                      <a:prstDash val="solid"/>
                    </a:lnT>
                    <a:lnB w="47520">
                      <a:solidFill>
                        <a:srgbClr val="edf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33" name="Group 6"/>
          <p:cNvGrpSpPr/>
          <p:nvPr/>
        </p:nvGrpSpPr>
        <p:grpSpPr>
          <a:xfrm>
            <a:off x="3132720" y="3457080"/>
            <a:ext cx="1644840" cy="1396440"/>
            <a:chOff x="3132720" y="3457080"/>
            <a:chExt cx="1644840" cy="1396440"/>
          </a:xfrm>
        </p:grpSpPr>
        <p:sp>
          <p:nvSpPr>
            <p:cNvPr id="134" name="Freeform 7"/>
            <p:cNvSpPr/>
            <p:nvPr/>
          </p:nvSpPr>
          <p:spPr>
            <a:xfrm>
              <a:off x="3132720" y="3565440"/>
              <a:ext cx="1644840" cy="1288080"/>
            </a:xfrm>
            <a:custGeom>
              <a:avLst/>
              <a:gdLst>
                <a:gd name="textAreaLeft" fmla="*/ 0 w 1644840"/>
                <a:gd name="textAreaRight" fmla="*/ 1645920 w 1644840"/>
                <a:gd name="textAreaTop" fmla="*/ 0 h 1288080"/>
                <a:gd name="textAreaBottom" fmla="*/ 1289160 h 1288080"/>
              </a:gdLst>
              <a:ahLst/>
              <a:cxnLst/>
              <a:rect l="textAreaLeft" t="textAreaTop" r="textAreaRight" b="textAreaBottom"/>
              <a:pathLst>
                <a:path w="433534" h="339520">
                  <a:moveTo>
                    <a:pt x="70549" y="0"/>
                  </a:moveTo>
                  <a:lnTo>
                    <a:pt x="362985" y="0"/>
                  </a:lnTo>
                  <a:cubicBezTo>
                    <a:pt x="381696" y="0"/>
                    <a:pt x="399640" y="7433"/>
                    <a:pt x="412870" y="20663"/>
                  </a:cubicBezTo>
                  <a:cubicBezTo>
                    <a:pt x="426101" y="33894"/>
                    <a:pt x="433534" y="51838"/>
                    <a:pt x="433534" y="70549"/>
                  </a:cubicBezTo>
                  <a:lnTo>
                    <a:pt x="433534" y="268971"/>
                  </a:lnTo>
                  <a:cubicBezTo>
                    <a:pt x="433534" y="307934"/>
                    <a:pt x="401948" y="339520"/>
                    <a:pt x="362985" y="339520"/>
                  </a:cubicBezTo>
                  <a:lnTo>
                    <a:pt x="70549" y="339520"/>
                  </a:lnTo>
                  <a:cubicBezTo>
                    <a:pt x="51838" y="339520"/>
                    <a:pt x="33894" y="332087"/>
                    <a:pt x="20663" y="318857"/>
                  </a:cubicBezTo>
                  <a:cubicBezTo>
                    <a:pt x="7433" y="305626"/>
                    <a:pt x="0" y="287682"/>
                    <a:pt x="0" y="268971"/>
                  </a:cubicBezTo>
                  <a:lnTo>
                    <a:pt x="0" y="70549"/>
                  </a:lnTo>
                  <a:cubicBezTo>
                    <a:pt x="0" y="31586"/>
                    <a:pt x="31586" y="0"/>
                    <a:pt x="70549" y="0"/>
                  </a:cubicBezTo>
                  <a:close/>
                </a:path>
              </a:pathLst>
            </a:custGeom>
            <a:solidFill>
              <a:srgbClr val="86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TextBox 8"/>
            <p:cNvSpPr/>
            <p:nvPr/>
          </p:nvSpPr>
          <p:spPr>
            <a:xfrm>
              <a:off x="3132720" y="3457080"/>
              <a:ext cx="1644840" cy="13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4160" rIns="254160" tIns="254160" bIns="254160" anchor="ctr">
              <a:noAutofit/>
            </a:bodyPr>
            <a:p>
              <a:pPr algn="ctr" defTabSz="914400">
                <a:lnSpc>
                  <a:spcPts val="3121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6" name="Group 9"/>
          <p:cNvGrpSpPr/>
          <p:nvPr/>
        </p:nvGrpSpPr>
        <p:grpSpPr>
          <a:xfrm>
            <a:off x="8321040" y="3457080"/>
            <a:ext cx="1644840" cy="1396440"/>
            <a:chOff x="8321040" y="3457080"/>
            <a:chExt cx="1644840" cy="1396440"/>
          </a:xfrm>
        </p:grpSpPr>
        <p:sp>
          <p:nvSpPr>
            <p:cNvPr id="137" name="Freeform 10"/>
            <p:cNvSpPr/>
            <p:nvPr/>
          </p:nvSpPr>
          <p:spPr>
            <a:xfrm>
              <a:off x="8321040" y="3565440"/>
              <a:ext cx="1644840" cy="1288080"/>
            </a:xfrm>
            <a:custGeom>
              <a:avLst/>
              <a:gdLst>
                <a:gd name="textAreaLeft" fmla="*/ 0 w 1644840"/>
                <a:gd name="textAreaRight" fmla="*/ 1645920 w 1644840"/>
                <a:gd name="textAreaTop" fmla="*/ 0 h 1288080"/>
                <a:gd name="textAreaBottom" fmla="*/ 1289160 h 1288080"/>
              </a:gdLst>
              <a:ahLst/>
              <a:cxnLst/>
              <a:rect l="textAreaLeft" t="textAreaTop" r="textAreaRight" b="textAreaBottom"/>
              <a:pathLst>
                <a:path w="433534" h="339520">
                  <a:moveTo>
                    <a:pt x="70549" y="0"/>
                  </a:moveTo>
                  <a:lnTo>
                    <a:pt x="362985" y="0"/>
                  </a:lnTo>
                  <a:cubicBezTo>
                    <a:pt x="381696" y="0"/>
                    <a:pt x="399640" y="7433"/>
                    <a:pt x="412870" y="20663"/>
                  </a:cubicBezTo>
                  <a:cubicBezTo>
                    <a:pt x="426101" y="33894"/>
                    <a:pt x="433534" y="51838"/>
                    <a:pt x="433534" y="70549"/>
                  </a:cubicBezTo>
                  <a:lnTo>
                    <a:pt x="433534" y="268971"/>
                  </a:lnTo>
                  <a:cubicBezTo>
                    <a:pt x="433534" y="307934"/>
                    <a:pt x="401948" y="339520"/>
                    <a:pt x="362985" y="339520"/>
                  </a:cubicBezTo>
                  <a:lnTo>
                    <a:pt x="70549" y="339520"/>
                  </a:lnTo>
                  <a:cubicBezTo>
                    <a:pt x="51838" y="339520"/>
                    <a:pt x="33894" y="332087"/>
                    <a:pt x="20663" y="318857"/>
                  </a:cubicBezTo>
                  <a:cubicBezTo>
                    <a:pt x="7433" y="305626"/>
                    <a:pt x="0" y="287682"/>
                    <a:pt x="0" y="268971"/>
                  </a:cubicBezTo>
                  <a:lnTo>
                    <a:pt x="0" y="70549"/>
                  </a:lnTo>
                  <a:cubicBezTo>
                    <a:pt x="0" y="31586"/>
                    <a:pt x="31586" y="0"/>
                    <a:pt x="70549" y="0"/>
                  </a:cubicBezTo>
                  <a:close/>
                </a:path>
              </a:pathLst>
            </a:custGeom>
            <a:solidFill>
              <a:srgbClr val="3eda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TextBox 11"/>
            <p:cNvSpPr/>
            <p:nvPr/>
          </p:nvSpPr>
          <p:spPr>
            <a:xfrm>
              <a:off x="8321040" y="3457080"/>
              <a:ext cx="1644840" cy="13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4160" rIns="254160" tIns="254160" bIns="254160" anchor="ctr">
              <a:noAutofit/>
            </a:bodyPr>
            <a:p>
              <a:pPr algn="ctr" defTabSz="914400">
                <a:lnSpc>
                  <a:spcPts val="3121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9" name="Group 12"/>
          <p:cNvGrpSpPr/>
          <p:nvPr/>
        </p:nvGrpSpPr>
        <p:grpSpPr>
          <a:xfrm>
            <a:off x="13872960" y="3457080"/>
            <a:ext cx="1644840" cy="1396440"/>
            <a:chOff x="13872960" y="3457080"/>
            <a:chExt cx="1644840" cy="1396440"/>
          </a:xfrm>
        </p:grpSpPr>
        <p:sp>
          <p:nvSpPr>
            <p:cNvPr id="140" name="Freeform 13"/>
            <p:cNvSpPr/>
            <p:nvPr/>
          </p:nvSpPr>
          <p:spPr>
            <a:xfrm>
              <a:off x="13872960" y="3565440"/>
              <a:ext cx="1644840" cy="1288080"/>
            </a:xfrm>
            <a:custGeom>
              <a:avLst/>
              <a:gdLst>
                <a:gd name="textAreaLeft" fmla="*/ 0 w 1644840"/>
                <a:gd name="textAreaRight" fmla="*/ 1645920 w 1644840"/>
                <a:gd name="textAreaTop" fmla="*/ 0 h 1288080"/>
                <a:gd name="textAreaBottom" fmla="*/ 1289160 h 1288080"/>
              </a:gdLst>
              <a:ahLst/>
              <a:cxnLst/>
              <a:rect l="textAreaLeft" t="textAreaTop" r="textAreaRight" b="textAreaBottom"/>
              <a:pathLst>
                <a:path w="433534" h="339520">
                  <a:moveTo>
                    <a:pt x="70549" y="0"/>
                  </a:moveTo>
                  <a:lnTo>
                    <a:pt x="362985" y="0"/>
                  </a:lnTo>
                  <a:cubicBezTo>
                    <a:pt x="381696" y="0"/>
                    <a:pt x="399640" y="7433"/>
                    <a:pt x="412870" y="20663"/>
                  </a:cubicBezTo>
                  <a:cubicBezTo>
                    <a:pt x="426101" y="33894"/>
                    <a:pt x="433534" y="51838"/>
                    <a:pt x="433534" y="70549"/>
                  </a:cubicBezTo>
                  <a:lnTo>
                    <a:pt x="433534" y="268971"/>
                  </a:lnTo>
                  <a:cubicBezTo>
                    <a:pt x="433534" y="307934"/>
                    <a:pt x="401948" y="339520"/>
                    <a:pt x="362985" y="339520"/>
                  </a:cubicBezTo>
                  <a:lnTo>
                    <a:pt x="70549" y="339520"/>
                  </a:lnTo>
                  <a:cubicBezTo>
                    <a:pt x="51838" y="339520"/>
                    <a:pt x="33894" y="332087"/>
                    <a:pt x="20663" y="318857"/>
                  </a:cubicBezTo>
                  <a:cubicBezTo>
                    <a:pt x="7433" y="305626"/>
                    <a:pt x="0" y="287682"/>
                    <a:pt x="0" y="268971"/>
                  </a:cubicBezTo>
                  <a:lnTo>
                    <a:pt x="0" y="70549"/>
                  </a:lnTo>
                  <a:cubicBezTo>
                    <a:pt x="0" y="31586"/>
                    <a:pt x="31586" y="0"/>
                    <a:pt x="70549" y="0"/>
                  </a:cubicBezTo>
                  <a:close/>
                </a:path>
              </a:pathLst>
            </a:custGeom>
            <a:solidFill>
              <a:srgbClr val="37c9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TextBox 14"/>
            <p:cNvSpPr/>
            <p:nvPr/>
          </p:nvSpPr>
          <p:spPr>
            <a:xfrm>
              <a:off x="13872960" y="3457080"/>
              <a:ext cx="1644840" cy="13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4160" rIns="254160" tIns="254160" bIns="254160" anchor="ctr">
              <a:noAutofit/>
            </a:bodyPr>
            <a:p>
              <a:pPr algn="ctr" defTabSz="914400">
                <a:lnSpc>
                  <a:spcPts val="3121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2" name="TextBox 15"/>
          <p:cNvSpPr/>
          <p:nvPr/>
        </p:nvSpPr>
        <p:spPr>
          <a:xfrm>
            <a:off x="3132720" y="3643200"/>
            <a:ext cx="164484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399"/>
              </a:lnSpc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Aileron Bold"/>
                <a:ea typeface="Aileron Bold"/>
              </a:rPr>
              <a:t>1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6"/>
          <p:cNvSpPr/>
          <p:nvPr/>
        </p:nvSpPr>
        <p:spPr>
          <a:xfrm>
            <a:off x="8321040" y="3643200"/>
            <a:ext cx="164484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399"/>
              </a:lnSpc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Aileron Bold"/>
                <a:ea typeface="Aileron Bold"/>
              </a:rPr>
              <a:t>2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7"/>
          <p:cNvSpPr/>
          <p:nvPr/>
        </p:nvSpPr>
        <p:spPr>
          <a:xfrm>
            <a:off x="13872960" y="3643200"/>
            <a:ext cx="1644840" cy="10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399"/>
              </a:lnSpc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Aileron Bold"/>
                <a:ea typeface="Aileron Bold"/>
              </a:rPr>
              <a:t>3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2"/>
          <p:cNvGrpSpPr/>
          <p:nvPr/>
        </p:nvGrpSpPr>
        <p:grpSpPr>
          <a:xfrm>
            <a:off x="6694920" y="2647440"/>
            <a:ext cx="5086440" cy="5086440"/>
            <a:chOff x="6694920" y="2647440"/>
            <a:chExt cx="5086440" cy="5086440"/>
          </a:xfrm>
        </p:grpSpPr>
        <p:sp>
          <p:nvSpPr>
            <p:cNvPr id="146" name="Freeform 3"/>
            <p:cNvSpPr/>
            <p:nvPr/>
          </p:nvSpPr>
          <p:spPr>
            <a:xfrm>
              <a:off x="6694920" y="2647440"/>
              <a:ext cx="5086440" cy="5086440"/>
            </a:xfrm>
            <a:custGeom>
              <a:avLst/>
              <a:gdLst>
                <a:gd name="textAreaLeft" fmla="*/ 0 w 5086440"/>
                <a:gd name="textAreaRight" fmla="*/ 5087520 w 5086440"/>
                <a:gd name="textAreaTop" fmla="*/ 0 h 5086440"/>
                <a:gd name="textAreaBottom" fmla="*/ 5087520 h 50864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w="952500">
              <a:solidFill>
                <a:srgbClr val="37c9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TextBox 4"/>
            <p:cNvSpPr/>
            <p:nvPr/>
          </p:nvSpPr>
          <p:spPr>
            <a:xfrm>
              <a:off x="7171920" y="2826000"/>
              <a:ext cx="4132440" cy="44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3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48" name="Group 5"/>
          <p:cNvGrpSpPr/>
          <p:nvPr/>
        </p:nvGrpSpPr>
        <p:grpSpPr>
          <a:xfrm>
            <a:off x="5823000" y="2561400"/>
            <a:ext cx="2097000" cy="2097000"/>
            <a:chOff x="5823000" y="2561400"/>
            <a:chExt cx="2097000" cy="2097000"/>
          </a:xfrm>
        </p:grpSpPr>
        <p:sp>
          <p:nvSpPr>
            <p:cNvPr id="149" name="Freeform 6"/>
            <p:cNvSpPr/>
            <p:nvPr/>
          </p:nvSpPr>
          <p:spPr>
            <a:xfrm>
              <a:off x="5823000" y="2561400"/>
              <a:ext cx="2097000" cy="2097000"/>
            </a:xfrm>
            <a:custGeom>
              <a:avLst/>
              <a:gdLst>
                <a:gd name="textAreaLeft" fmla="*/ 0 w 2097000"/>
                <a:gd name="textAreaRight" fmla="*/ 2098080 w 2097000"/>
                <a:gd name="textAreaTop" fmla="*/ 0 h 2097000"/>
                <a:gd name="textAreaBottom" fmla="*/ 2098080 h 20970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w="95250">
              <a:solidFill>
                <a:srgbClr val="37c9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Box 7"/>
            <p:cNvSpPr/>
            <p:nvPr/>
          </p:nvSpPr>
          <p:spPr>
            <a:xfrm>
              <a:off x="6019560" y="3053160"/>
              <a:ext cx="1703880" cy="140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5800"/>
                </a:lnSpc>
              </a:pPr>
              <a:r>
                <a:rPr b="1" lang="en-US" sz="5800" strike="noStrike" u="none">
                  <a:solidFill>
                    <a:srgbClr val="2c92d5"/>
                  </a:solidFill>
                  <a:effectLst/>
                  <a:uFillTx/>
                  <a:latin typeface="Aileron Ultra-Bold"/>
                  <a:ea typeface="Aileron Ultra-Bold"/>
                </a:rPr>
                <a:t>E</a:t>
              </a:r>
              <a:endParaRPr b="0" lang="es-ES" sz="5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" name="Group 8"/>
          <p:cNvGrpSpPr/>
          <p:nvPr/>
        </p:nvGrpSpPr>
        <p:grpSpPr>
          <a:xfrm>
            <a:off x="10366920" y="2561400"/>
            <a:ext cx="2097000" cy="2097000"/>
            <a:chOff x="10366920" y="2561400"/>
            <a:chExt cx="2097000" cy="2097000"/>
          </a:xfrm>
        </p:grpSpPr>
        <p:sp>
          <p:nvSpPr>
            <p:cNvPr id="152" name="Freeform 9"/>
            <p:cNvSpPr/>
            <p:nvPr/>
          </p:nvSpPr>
          <p:spPr>
            <a:xfrm>
              <a:off x="10366920" y="2561400"/>
              <a:ext cx="2097000" cy="2097000"/>
            </a:xfrm>
            <a:custGeom>
              <a:avLst/>
              <a:gdLst>
                <a:gd name="textAreaLeft" fmla="*/ 0 w 2097000"/>
                <a:gd name="textAreaRight" fmla="*/ 2098080 w 2097000"/>
                <a:gd name="textAreaTop" fmla="*/ 0 h 2097000"/>
                <a:gd name="textAreaBottom" fmla="*/ 2098080 h 20970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w="95250">
              <a:solidFill>
                <a:srgbClr val="37c9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TextBox 10"/>
            <p:cNvSpPr/>
            <p:nvPr/>
          </p:nvSpPr>
          <p:spPr>
            <a:xfrm>
              <a:off x="10563480" y="3053160"/>
              <a:ext cx="1703880" cy="140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5800"/>
                </a:lnSpc>
              </a:pPr>
              <a:r>
                <a:rPr b="1" lang="en-US" sz="5800" strike="noStrike" u="none">
                  <a:solidFill>
                    <a:srgbClr val="2c92d5"/>
                  </a:solidFill>
                  <a:effectLst/>
                  <a:uFillTx/>
                  <a:latin typeface="Aileron Ultra-Bold"/>
                  <a:ea typeface="Aileron Ultra-Bold"/>
                </a:rPr>
                <a:t>R</a:t>
              </a:r>
              <a:endParaRPr b="0" lang="es-ES" sz="5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4" name="Group 11"/>
          <p:cNvGrpSpPr/>
          <p:nvPr/>
        </p:nvGrpSpPr>
        <p:grpSpPr>
          <a:xfrm>
            <a:off x="5823000" y="5627520"/>
            <a:ext cx="2097000" cy="2097000"/>
            <a:chOff x="5823000" y="5627520"/>
            <a:chExt cx="2097000" cy="2097000"/>
          </a:xfrm>
        </p:grpSpPr>
        <p:sp>
          <p:nvSpPr>
            <p:cNvPr id="155" name="Freeform 12"/>
            <p:cNvSpPr/>
            <p:nvPr/>
          </p:nvSpPr>
          <p:spPr>
            <a:xfrm>
              <a:off x="5823000" y="5627520"/>
              <a:ext cx="2097000" cy="2097000"/>
            </a:xfrm>
            <a:custGeom>
              <a:avLst/>
              <a:gdLst>
                <a:gd name="textAreaLeft" fmla="*/ 0 w 2097000"/>
                <a:gd name="textAreaRight" fmla="*/ 2098080 w 2097000"/>
                <a:gd name="textAreaTop" fmla="*/ 0 h 2097000"/>
                <a:gd name="textAreaBottom" fmla="*/ 2098080 h 20970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w="95250">
              <a:solidFill>
                <a:srgbClr val="37c9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Box 13"/>
            <p:cNvSpPr/>
            <p:nvPr/>
          </p:nvSpPr>
          <p:spPr>
            <a:xfrm>
              <a:off x="6019560" y="6119280"/>
              <a:ext cx="1703880" cy="140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5800"/>
                </a:lnSpc>
              </a:pPr>
              <a:r>
                <a:rPr b="1" lang="en-US" sz="5800" strike="noStrike" u="none">
                  <a:solidFill>
                    <a:srgbClr val="2c92d5"/>
                  </a:solidFill>
                  <a:effectLst/>
                  <a:uFillTx/>
                  <a:latin typeface="Aileron Heavy"/>
                  <a:ea typeface="Aileron Heavy"/>
                </a:rPr>
                <a:t>A</a:t>
              </a:r>
              <a:endParaRPr b="0" lang="es-ES" sz="5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" name="Group 14"/>
          <p:cNvGrpSpPr/>
          <p:nvPr/>
        </p:nvGrpSpPr>
        <p:grpSpPr>
          <a:xfrm>
            <a:off x="10366920" y="5627520"/>
            <a:ext cx="2097000" cy="2097000"/>
            <a:chOff x="10366920" y="5627520"/>
            <a:chExt cx="2097000" cy="2097000"/>
          </a:xfrm>
        </p:grpSpPr>
        <p:sp>
          <p:nvSpPr>
            <p:cNvPr id="158" name="Freeform 15"/>
            <p:cNvSpPr/>
            <p:nvPr/>
          </p:nvSpPr>
          <p:spPr>
            <a:xfrm>
              <a:off x="10366920" y="5627520"/>
              <a:ext cx="2097000" cy="2097000"/>
            </a:xfrm>
            <a:custGeom>
              <a:avLst/>
              <a:gdLst>
                <a:gd name="textAreaLeft" fmla="*/ 0 w 2097000"/>
                <a:gd name="textAreaRight" fmla="*/ 2098080 w 2097000"/>
                <a:gd name="textAreaTop" fmla="*/ 0 h 2097000"/>
                <a:gd name="textAreaBottom" fmla="*/ 2098080 h 20970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w="95250">
              <a:solidFill>
                <a:srgbClr val="37c9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16"/>
            <p:cNvSpPr/>
            <p:nvPr/>
          </p:nvSpPr>
          <p:spPr>
            <a:xfrm>
              <a:off x="10563480" y="6119280"/>
              <a:ext cx="1703880" cy="140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5800"/>
                </a:lnSpc>
              </a:pPr>
              <a:r>
                <a:rPr b="1" lang="en-US" sz="5800" strike="noStrike" u="none">
                  <a:solidFill>
                    <a:srgbClr val="2c92d5"/>
                  </a:solidFill>
                  <a:effectLst/>
                  <a:uFillTx/>
                  <a:latin typeface="Aileron Ultra-Bold"/>
                  <a:ea typeface="Aileron Ultra-Bold"/>
                </a:rPr>
                <a:t>C</a:t>
              </a:r>
              <a:endParaRPr b="0" lang="es-ES" sz="5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" name="Group 17"/>
          <p:cNvGrpSpPr/>
          <p:nvPr/>
        </p:nvGrpSpPr>
        <p:grpSpPr>
          <a:xfrm>
            <a:off x="1028880" y="2791080"/>
            <a:ext cx="4321800" cy="967320"/>
            <a:chOff x="1028880" y="2791080"/>
            <a:chExt cx="4321800" cy="967320"/>
          </a:xfrm>
        </p:grpSpPr>
        <p:sp>
          <p:nvSpPr>
            <p:cNvPr id="161" name="TextBox 18"/>
            <p:cNvSpPr/>
            <p:nvPr/>
          </p:nvSpPr>
          <p:spPr>
            <a:xfrm>
              <a:off x="1028880" y="2791080"/>
              <a:ext cx="4321800" cy="44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ts val="3640"/>
                </a:lnSpc>
              </a:pPr>
              <a:r>
                <a:rPr b="1" lang="en-US" sz="2800" spc="85" strike="noStrike" u="none">
                  <a:solidFill>
                    <a:srgbClr val="2c92d5"/>
                  </a:solidFill>
                  <a:effectLst/>
                  <a:uFillTx/>
                  <a:latin typeface="Aileron Bold"/>
                  <a:ea typeface="Aileron Bold"/>
                </a:rPr>
                <a:t>ESTANDARIZACIÓN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TextBox 19"/>
            <p:cNvSpPr/>
            <p:nvPr/>
          </p:nvSpPr>
          <p:spPr>
            <a:xfrm>
              <a:off x="1028880" y="3396240"/>
              <a:ext cx="4321800" cy="36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ts val="3081"/>
                </a:lnSpc>
              </a:pPr>
              <a:r>
                <a:rPr b="0" lang="en-US" sz="2200" spc="34" strike="noStrike" u="none">
                  <a:solidFill>
                    <a:srgbClr val="191919"/>
                  </a:solidFill>
                  <a:effectLst/>
                  <a:uFillTx/>
                  <a:latin typeface="Aileron"/>
                  <a:ea typeface="Aileron"/>
                </a:rPr>
                <a:t>Estandarización de los datos</a:t>
              </a:r>
              <a:endParaRPr b="0" lang="es-E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" name="Group 20"/>
          <p:cNvGrpSpPr/>
          <p:nvPr/>
        </p:nvGrpSpPr>
        <p:grpSpPr>
          <a:xfrm>
            <a:off x="13068360" y="2791080"/>
            <a:ext cx="4190040" cy="967320"/>
            <a:chOff x="13068360" y="2791080"/>
            <a:chExt cx="4190040" cy="967320"/>
          </a:xfrm>
        </p:grpSpPr>
        <p:sp>
          <p:nvSpPr>
            <p:cNvPr id="164" name="TextBox 21"/>
            <p:cNvSpPr/>
            <p:nvPr/>
          </p:nvSpPr>
          <p:spPr>
            <a:xfrm>
              <a:off x="13068360" y="2791080"/>
              <a:ext cx="4190040" cy="44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640"/>
                </a:lnSpc>
              </a:pPr>
              <a:r>
                <a:rPr b="1" lang="en-US" sz="2800" spc="85" strike="noStrike" u="none">
                  <a:solidFill>
                    <a:srgbClr val="2c92d5"/>
                  </a:solidFill>
                  <a:effectLst/>
                  <a:uFillTx/>
                  <a:latin typeface="Aileron Bold"/>
                  <a:ea typeface="Aileron Bold"/>
                </a:rPr>
                <a:t>RECODIFICACIÓN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Box 22"/>
            <p:cNvSpPr/>
            <p:nvPr/>
          </p:nvSpPr>
          <p:spPr>
            <a:xfrm>
              <a:off x="13068360" y="3396240"/>
              <a:ext cx="4190040" cy="36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81"/>
                </a:lnSpc>
              </a:pPr>
              <a:r>
                <a:rPr b="0" lang="en-US" sz="2200" spc="34" strike="noStrike" u="none">
                  <a:solidFill>
                    <a:srgbClr val="191919"/>
                  </a:solidFill>
                  <a:effectLst/>
                  <a:uFillTx/>
                  <a:latin typeface="Aileron"/>
                  <a:ea typeface="Aileron"/>
                </a:rPr>
                <a:t>Recodificación de categorías</a:t>
              </a:r>
              <a:endParaRPr b="0" lang="es-E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" name="Group 23"/>
          <p:cNvGrpSpPr/>
          <p:nvPr/>
        </p:nvGrpSpPr>
        <p:grpSpPr>
          <a:xfrm>
            <a:off x="1028880" y="6505920"/>
            <a:ext cx="4321800" cy="967320"/>
            <a:chOff x="1028880" y="6505920"/>
            <a:chExt cx="4321800" cy="967320"/>
          </a:xfrm>
        </p:grpSpPr>
        <p:sp>
          <p:nvSpPr>
            <p:cNvPr id="167" name="TextBox 24"/>
            <p:cNvSpPr/>
            <p:nvPr/>
          </p:nvSpPr>
          <p:spPr>
            <a:xfrm>
              <a:off x="1028880" y="6505920"/>
              <a:ext cx="4321800" cy="44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ts val="3640"/>
                </a:lnSpc>
              </a:pPr>
              <a:r>
                <a:rPr b="1" lang="en-US" sz="2800" spc="85" strike="noStrike" u="none">
                  <a:solidFill>
                    <a:srgbClr val="2c92d5"/>
                  </a:solidFill>
                  <a:effectLst/>
                  <a:uFillTx/>
                  <a:latin typeface="Aileron Bold"/>
                  <a:ea typeface="Aileron Bold"/>
                </a:rPr>
                <a:t>AGRUPACIÓN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TextBox 25"/>
            <p:cNvSpPr/>
            <p:nvPr/>
          </p:nvSpPr>
          <p:spPr>
            <a:xfrm>
              <a:off x="1028880" y="7111080"/>
              <a:ext cx="4321800" cy="36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ts val="3081"/>
                </a:lnSpc>
              </a:pPr>
              <a:r>
                <a:rPr b="0" lang="en-US" sz="2200" spc="34" strike="noStrike" u="none">
                  <a:solidFill>
                    <a:srgbClr val="191919"/>
                  </a:solidFill>
                  <a:effectLst/>
                  <a:uFillTx/>
                  <a:latin typeface="Aileron"/>
                  <a:ea typeface="Aileron"/>
                </a:rPr>
                <a:t>Agrupación de raza y país</a:t>
              </a:r>
              <a:endParaRPr b="0" lang="es-E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9" name="Group 26"/>
          <p:cNvGrpSpPr/>
          <p:nvPr/>
        </p:nvGrpSpPr>
        <p:grpSpPr>
          <a:xfrm>
            <a:off x="13068360" y="6505920"/>
            <a:ext cx="4190040" cy="967320"/>
            <a:chOff x="13068360" y="6505920"/>
            <a:chExt cx="4190040" cy="967320"/>
          </a:xfrm>
        </p:grpSpPr>
        <p:sp>
          <p:nvSpPr>
            <p:cNvPr id="170" name="TextBox 27"/>
            <p:cNvSpPr/>
            <p:nvPr/>
          </p:nvSpPr>
          <p:spPr>
            <a:xfrm>
              <a:off x="13068360" y="6505920"/>
              <a:ext cx="4190040" cy="44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640"/>
                </a:lnSpc>
              </a:pPr>
              <a:r>
                <a:rPr b="1" lang="en-US" sz="2800" spc="85" strike="noStrike" u="none">
                  <a:solidFill>
                    <a:srgbClr val="2c92d5"/>
                  </a:solidFill>
                  <a:effectLst/>
                  <a:uFillTx/>
                  <a:latin typeface="Aileron Bold"/>
                  <a:ea typeface="Aileron Bold"/>
                </a:rPr>
                <a:t>CREACIÓN</a:t>
              </a:r>
              <a:endPara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TextBox 28"/>
            <p:cNvSpPr/>
            <p:nvPr/>
          </p:nvSpPr>
          <p:spPr>
            <a:xfrm>
              <a:off x="13068360" y="7111080"/>
              <a:ext cx="4190040" cy="36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81"/>
                </a:lnSpc>
              </a:pPr>
              <a:r>
                <a:rPr b="0" lang="en-US" sz="2200" spc="34" strike="noStrike" u="none">
                  <a:solidFill>
                    <a:srgbClr val="191919"/>
                  </a:solidFill>
                  <a:effectLst/>
                  <a:uFillTx/>
                  <a:latin typeface="Aileron"/>
                  <a:ea typeface="Aileron"/>
                </a:rPr>
                <a:t>Creación de nuevas variables</a:t>
              </a:r>
              <a:endParaRPr b="0" lang="es-E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 3"/>
          <p:cNvSpPr/>
          <p:nvPr/>
        </p:nvSpPr>
        <p:spPr>
          <a:xfrm>
            <a:off x="1258920" y="6126840"/>
            <a:ext cx="2599920" cy="170640"/>
          </a:xfrm>
          <a:custGeom>
            <a:avLst/>
            <a:gdLst>
              <a:gd name="textAreaLeft" fmla="*/ 0 w 2599920"/>
              <a:gd name="textAreaRight" fmla="*/ 2601000 w 2599920"/>
              <a:gd name="textAreaTop" fmla="*/ 0 h 170640"/>
              <a:gd name="textAreaBottom" fmla="*/ 171720 h 170640"/>
            </a:gdLst>
            <a:ahLst/>
            <a:cxnLst/>
            <a:rect l="textAreaLeft" t="textAreaTop" r="textAreaRight" b="textAreaBottom"/>
            <a:pathLst>
              <a:path w="2600904" h="171590">
                <a:moveTo>
                  <a:pt x="0" y="0"/>
                </a:moveTo>
                <a:lnTo>
                  <a:pt x="2600904" y="0"/>
                </a:lnTo>
                <a:lnTo>
                  <a:pt x="2600904" y="171591"/>
                </a:lnTo>
                <a:lnTo>
                  <a:pt x="0" y="1715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4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3006720" y="5478840"/>
            <a:ext cx="1170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2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TT Hoves Bold"/>
                <a:ea typeface="TT Hoves Bold"/>
              </a:rPr>
              <a:t>Phase 01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4" name="Group 5"/>
          <p:cNvGrpSpPr/>
          <p:nvPr/>
        </p:nvGrpSpPr>
        <p:grpSpPr>
          <a:xfrm>
            <a:off x="1108800" y="3442680"/>
            <a:ext cx="2900160" cy="3219840"/>
            <a:chOff x="1108800" y="3442680"/>
            <a:chExt cx="2900160" cy="3219840"/>
          </a:xfrm>
        </p:grpSpPr>
        <p:sp>
          <p:nvSpPr>
            <p:cNvPr id="175" name="Freeform 6"/>
            <p:cNvSpPr/>
            <p:nvPr/>
          </p:nvSpPr>
          <p:spPr>
            <a:xfrm>
              <a:off x="1108800" y="3623400"/>
              <a:ext cx="2900160" cy="3038760"/>
            </a:xfrm>
            <a:custGeom>
              <a:avLst/>
              <a:gdLst>
                <a:gd name="textAreaLeft" fmla="*/ 0 w 2900160"/>
                <a:gd name="textAreaRight" fmla="*/ 2901240 w 2900160"/>
                <a:gd name="textAreaTop" fmla="*/ 0 h 3038760"/>
                <a:gd name="textAreaBottom" fmla="*/ 3039840 h 3038760"/>
              </a:gdLst>
              <a:ahLst/>
              <a:cxnLst/>
              <a:rect l="textAreaLeft" t="textAreaTop" r="textAreaRight" b="textAreaBottom"/>
              <a:pathLst>
                <a:path w="764074" h="800638">
                  <a:moveTo>
                    <a:pt x="53372" y="0"/>
                  </a:moveTo>
                  <a:lnTo>
                    <a:pt x="710701" y="0"/>
                  </a:lnTo>
                  <a:cubicBezTo>
                    <a:pt x="724857" y="0"/>
                    <a:pt x="738432" y="5623"/>
                    <a:pt x="748441" y="15632"/>
                  </a:cubicBezTo>
                  <a:cubicBezTo>
                    <a:pt x="758451" y="25642"/>
                    <a:pt x="764074" y="39217"/>
                    <a:pt x="764074" y="53372"/>
                  </a:cubicBezTo>
                  <a:lnTo>
                    <a:pt x="764074" y="747265"/>
                  </a:lnTo>
                  <a:cubicBezTo>
                    <a:pt x="764074" y="776742"/>
                    <a:pt x="740178" y="800638"/>
                    <a:pt x="710701" y="800638"/>
                  </a:cubicBezTo>
                  <a:lnTo>
                    <a:pt x="53372" y="800638"/>
                  </a:lnTo>
                  <a:cubicBezTo>
                    <a:pt x="23896" y="800638"/>
                    <a:pt x="0" y="776742"/>
                    <a:pt x="0" y="747265"/>
                  </a:cubicBezTo>
                  <a:lnTo>
                    <a:pt x="0" y="53372"/>
                  </a:lnTo>
                  <a:cubicBezTo>
                    <a:pt x="0" y="23896"/>
                    <a:pt x="23896" y="0"/>
                    <a:pt x="5337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TextBox 7"/>
            <p:cNvSpPr/>
            <p:nvPr/>
          </p:nvSpPr>
          <p:spPr>
            <a:xfrm>
              <a:off x="1108800" y="3442680"/>
              <a:ext cx="2900160" cy="321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52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77" name="Freeform 8"/>
          <p:cNvSpPr/>
          <p:nvPr/>
        </p:nvSpPr>
        <p:spPr>
          <a:xfrm>
            <a:off x="1079280" y="2375280"/>
            <a:ext cx="3175920" cy="2029680"/>
          </a:xfrm>
          <a:custGeom>
            <a:avLst/>
            <a:gdLst>
              <a:gd name="textAreaLeft" fmla="*/ 0 w 3175920"/>
              <a:gd name="textAreaRight" fmla="*/ 3177000 w 3175920"/>
              <a:gd name="textAreaTop" fmla="*/ 0 h 2029680"/>
              <a:gd name="textAreaBottom" fmla="*/ 2030760 h 2029680"/>
            </a:gdLst>
            <a:ahLst/>
            <a:cxnLst/>
            <a:rect l="textAreaLeft" t="textAreaTop" r="textAreaRight" b="textAreaBottom"/>
            <a:pathLst>
              <a:path w="3176949" h="2030804">
                <a:moveTo>
                  <a:pt x="0" y="0"/>
                </a:moveTo>
                <a:lnTo>
                  <a:pt x="3176949" y="0"/>
                </a:lnTo>
                <a:lnTo>
                  <a:pt x="3176949" y="2030804"/>
                </a:lnTo>
                <a:lnTo>
                  <a:pt x="0" y="20308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1936080" y="2577600"/>
            <a:ext cx="146196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2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92f56"/>
                </a:solidFill>
                <a:effectLst/>
                <a:uFillTx/>
                <a:latin typeface="TT Hoves Bold"/>
                <a:ea typeface="TT Hoves Bold"/>
              </a:rPr>
              <a:t>01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720000" y="4890960"/>
            <a:ext cx="468000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239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T Hoves"/>
                <a:ea typeface="TT Hoves"/>
              </a:rPr>
              <a:t>Relación positiva Clara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39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T Hoves"/>
                <a:ea typeface="TT Hoves"/>
              </a:rPr>
              <a:t>Mayor educación igual  &gt; 50k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1385640" y="3872520"/>
            <a:ext cx="234648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92f56"/>
                </a:solidFill>
                <a:effectLst/>
                <a:uFillTx/>
                <a:latin typeface="TT Hoves Bold"/>
                <a:ea typeface="TT Hoves Bold"/>
              </a:rPr>
              <a:t>Educación VS Ingresos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4"/>
          <a:stretch/>
        </p:blipFill>
        <p:spPr>
          <a:xfrm>
            <a:off x="5940000" y="1035360"/>
            <a:ext cx="11340000" cy="850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2"/>
          <p:cNvGrpSpPr/>
          <p:nvPr/>
        </p:nvGrpSpPr>
        <p:grpSpPr>
          <a:xfrm>
            <a:off x="6945840" y="3640320"/>
            <a:ext cx="5542920" cy="1371600"/>
            <a:chOff x="6945840" y="3640320"/>
            <a:chExt cx="5542920" cy="1371600"/>
          </a:xfrm>
        </p:grpSpPr>
        <p:sp>
          <p:nvSpPr>
            <p:cNvPr id="183" name="Freeform 3"/>
            <p:cNvSpPr/>
            <p:nvPr/>
          </p:nvSpPr>
          <p:spPr>
            <a:xfrm>
              <a:off x="6945840" y="3713400"/>
              <a:ext cx="5542920" cy="1298520"/>
            </a:xfrm>
            <a:custGeom>
              <a:avLst/>
              <a:gdLst>
                <a:gd name="textAreaLeft" fmla="*/ 0 w 5542920"/>
                <a:gd name="textAreaRight" fmla="*/ 5544000 w 5542920"/>
                <a:gd name="textAreaTop" fmla="*/ 0 h 1298520"/>
                <a:gd name="textAreaBottom" fmla="*/ 1299600 h 1298520"/>
              </a:gdLst>
              <a:ahLst/>
              <a:cxnLst/>
              <a:rect l="textAreaLeft" t="textAreaTop" r="textAreaRight" b="textAreaBottom"/>
              <a:pathLst>
                <a:path w="1445080" h="338786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solidFill>
              <a:srgbClr val="292f5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TextBox 4"/>
            <p:cNvSpPr/>
            <p:nvPr/>
          </p:nvSpPr>
          <p:spPr>
            <a:xfrm>
              <a:off x="6945840" y="3640320"/>
              <a:ext cx="5542920" cy="137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3560" rIns="43560" tIns="43560" bIns="43560" anchor="ctr">
              <a:noAutofit/>
            </a:bodyPr>
            <a:p>
              <a:pPr algn="ctr" defTabSz="914400">
                <a:lnSpc>
                  <a:spcPts val="2163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85" name="Group 5"/>
          <p:cNvGrpSpPr/>
          <p:nvPr/>
        </p:nvGrpSpPr>
        <p:grpSpPr>
          <a:xfrm>
            <a:off x="12045600" y="3088800"/>
            <a:ext cx="1841400" cy="1923480"/>
            <a:chOff x="12045600" y="3088800"/>
            <a:chExt cx="1841400" cy="1923480"/>
          </a:xfrm>
        </p:grpSpPr>
        <p:sp>
          <p:nvSpPr>
            <p:cNvPr id="186" name="Freeform 6"/>
            <p:cNvSpPr/>
            <p:nvPr/>
          </p:nvSpPr>
          <p:spPr>
            <a:xfrm>
              <a:off x="12045600" y="3088800"/>
              <a:ext cx="1841400" cy="1923480"/>
            </a:xfrm>
            <a:custGeom>
              <a:avLst/>
              <a:gdLst>
                <a:gd name="textAreaLeft" fmla="*/ 0 w 1841400"/>
                <a:gd name="textAreaRight" fmla="*/ 1842480 w 1841400"/>
                <a:gd name="textAreaTop" fmla="*/ 0 h 1923480"/>
                <a:gd name="textAreaBottom" fmla="*/ 1924560 h 1923480"/>
              </a:gdLst>
              <a:ahLst/>
              <a:cxnLst/>
              <a:rect l="textAreaLeft" t="textAreaTop" r="textAreaRight" b="textAreaBottom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292f5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TextBox 7"/>
            <p:cNvSpPr/>
            <p:nvPr/>
          </p:nvSpPr>
          <p:spPr>
            <a:xfrm>
              <a:off x="12045600" y="3989520"/>
              <a:ext cx="920160" cy="102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3560" rIns="43560" tIns="43560" bIns="43560" anchor="ctr">
              <a:noAutofit/>
            </a:bodyPr>
            <a:p>
              <a:pPr algn="ctr" defTabSz="914400">
                <a:lnSpc>
                  <a:spcPts val="2163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88" name="Group 8"/>
          <p:cNvGrpSpPr/>
          <p:nvPr/>
        </p:nvGrpSpPr>
        <p:grpSpPr>
          <a:xfrm>
            <a:off x="6945840" y="5086800"/>
            <a:ext cx="5542920" cy="1371600"/>
            <a:chOff x="6945840" y="5086800"/>
            <a:chExt cx="5542920" cy="1371600"/>
          </a:xfrm>
        </p:grpSpPr>
        <p:sp>
          <p:nvSpPr>
            <p:cNvPr id="189" name="Freeform 9"/>
            <p:cNvSpPr/>
            <p:nvPr/>
          </p:nvSpPr>
          <p:spPr>
            <a:xfrm>
              <a:off x="6945840" y="5159880"/>
              <a:ext cx="5542920" cy="1298520"/>
            </a:xfrm>
            <a:custGeom>
              <a:avLst/>
              <a:gdLst>
                <a:gd name="textAreaLeft" fmla="*/ 0 w 5542920"/>
                <a:gd name="textAreaRight" fmla="*/ 5544000 w 5542920"/>
                <a:gd name="textAreaTop" fmla="*/ 0 h 1298520"/>
                <a:gd name="textAreaBottom" fmla="*/ 1299600 h 1298520"/>
              </a:gdLst>
              <a:ahLst/>
              <a:cxnLst/>
              <a:rect l="textAreaLeft" t="textAreaTop" r="textAreaRight" b="textAreaBottom"/>
              <a:pathLst>
                <a:path w="1445080" h="338786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solidFill>
              <a:srgbClr val="00889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Box 10"/>
            <p:cNvSpPr/>
            <p:nvPr/>
          </p:nvSpPr>
          <p:spPr>
            <a:xfrm>
              <a:off x="6945840" y="5086800"/>
              <a:ext cx="5542920" cy="137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3560" rIns="43560" tIns="43560" bIns="43560" anchor="ctr">
              <a:noAutofit/>
            </a:bodyPr>
            <a:p>
              <a:pPr algn="ctr" defTabSz="914400">
                <a:lnSpc>
                  <a:spcPts val="2163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91" name="Group 11"/>
          <p:cNvGrpSpPr/>
          <p:nvPr/>
        </p:nvGrpSpPr>
        <p:grpSpPr>
          <a:xfrm>
            <a:off x="12046680" y="5143680"/>
            <a:ext cx="1841400" cy="1762920"/>
            <a:chOff x="12046680" y="5143680"/>
            <a:chExt cx="1841400" cy="1762920"/>
          </a:xfrm>
        </p:grpSpPr>
        <p:sp>
          <p:nvSpPr>
            <p:cNvPr id="192" name="Freeform 12"/>
            <p:cNvSpPr/>
            <p:nvPr/>
          </p:nvSpPr>
          <p:spPr>
            <a:xfrm rot="5400000">
              <a:off x="12085920" y="5104440"/>
              <a:ext cx="1762920" cy="1841400"/>
            </a:xfrm>
            <a:custGeom>
              <a:avLst/>
              <a:gdLst>
                <a:gd name="textAreaLeft" fmla="*/ 0 w 1762920"/>
                <a:gd name="textAreaRight" fmla="*/ 1764000 w 1762920"/>
                <a:gd name="textAreaTop" fmla="*/ 0 h 1841400"/>
                <a:gd name="textAreaBottom" fmla="*/ 1842480 h 1841400"/>
              </a:gdLst>
              <a:ahLst/>
              <a:cxnLst/>
              <a:rect l="textAreaLeft" t="textAreaTop" r="textAreaRight" b="textAreaBottom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00889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Box 13"/>
            <p:cNvSpPr/>
            <p:nvPr/>
          </p:nvSpPr>
          <p:spPr>
            <a:xfrm rot="5400000">
              <a:off x="12095640" y="5094720"/>
              <a:ext cx="880920" cy="97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3560" rIns="43560" tIns="43560" bIns="43560" anchor="ctr">
              <a:noAutofit/>
            </a:bodyPr>
            <a:p>
              <a:pPr algn="ctr" defTabSz="914400">
                <a:lnSpc>
                  <a:spcPts val="2163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94" name="Freeform 14"/>
          <p:cNvSpPr/>
          <p:nvPr/>
        </p:nvSpPr>
        <p:spPr>
          <a:xfrm>
            <a:off x="3964320" y="2419920"/>
            <a:ext cx="5452920" cy="5446080"/>
          </a:xfrm>
          <a:custGeom>
            <a:avLst/>
            <a:gdLst>
              <a:gd name="textAreaLeft" fmla="*/ 0 w 5452920"/>
              <a:gd name="textAreaRight" fmla="*/ 5454000 w 5452920"/>
              <a:gd name="textAreaTop" fmla="*/ 0 h 5446080"/>
              <a:gd name="textAreaBottom" fmla="*/ 5447160 h 5446080"/>
            </a:gdLst>
            <a:ahLst/>
            <a:cxnLst/>
            <a:rect l="textAreaLeft" t="textAreaTop" r="textAreaRight" b="textAreaBottom"/>
            <a:pathLst>
              <a:path w="5454107" h="5447290">
                <a:moveTo>
                  <a:pt x="0" y="0"/>
                </a:moveTo>
                <a:lnTo>
                  <a:pt x="5454107" y="0"/>
                </a:lnTo>
                <a:lnTo>
                  <a:pt x="5454107" y="5447290"/>
                </a:lnTo>
                <a:lnTo>
                  <a:pt x="0" y="54472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5" name="Group 15"/>
          <p:cNvGrpSpPr/>
          <p:nvPr/>
        </p:nvGrpSpPr>
        <p:grpSpPr>
          <a:xfrm>
            <a:off x="3964320" y="2995920"/>
            <a:ext cx="4563000" cy="4563000"/>
            <a:chOff x="3964320" y="2995920"/>
            <a:chExt cx="4563000" cy="4563000"/>
          </a:xfrm>
        </p:grpSpPr>
        <p:sp>
          <p:nvSpPr>
            <p:cNvPr id="196" name="Freeform 16"/>
            <p:cNvSpPr/>
            <p:nvPr/>
          </p:nvSpPr>
          <p:spPr>
            <a:xfrm>
              <a:off x="3964320" y="2995920"/>
              <a:ext cx="4563000" cy="4563000"/>
            </a:xfrm>
            <a:custGeom>
              <a:avLst/>
              <a:gdLst>
                <a:gd name="textAreaLeft" fmla="*/ 0 w 4563000"/>
                <a:gd name="textAreaRight" fmla="*/ 4564080 w 4563000"/>
                <a:gd name="textAreaTop" fmla="*/ 0 h 4563000"/>
                <a:gd name="textAreaBottom" fmla="*/ 4564080 h 45630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TextBox 17"/>
            <p:cNvSpPr/>
            <p:nvPr/>
          </p:nvSpPr>
          <p:spPr>
            <a:xfrm>
              <a:off x="4392360" y="2995920"/>
              <a:ext cx="3707280" cy="4134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5040"/>
                </a:lnSpc>
              </a:pPr>
              <a:r>
                <a:rPr b="1" lang="en-US" sz="3600" strike="noStrike" u="none">
                  <a:solidFill>
                    <a:srgbClr val="292f56"/>
                  </a:solidFill>
                  <a:effectLst/>
                  <a:uFillTx/>
                  <a:latin typeface="TT Hoves Bold"/>
                  <a:ea typeface="TT Hoves Bold"/>
                </a:rPr>
                <a:t>TEST CHI CUADRADO</a:t>
              </a:r>
              <a:endParaRPr b="0" lang="es-ES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5040"/>
                </a:lnSpc>
                <a:tabLst>
                  <a:tab algn="l" pos="0"/>
                </a:tabLst>
              </a:pPr>
              <a:r>
                <a:rPr b="1" lang="en-US" sz="3600" strike="noStrike" u="none">
                  <a:solidFill>
                    <a:srgbClr val="292f56"/>
                  </a:solidFill>
                  <a:effectLst/>
                  <a:uFillTx/>
                  <a:latin typeface="TT Hoves Bold"/>
                  <a:ea typeface="TT Hoves Bold"/>
                </a:rPr>
                <a:t>(Educación VS Ingreso)</a:t>
              </a:r>
              <a:endParaRPr b="0" lang="es-ES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" name="Freeform 18"/>
          <p:cNvSpPr/>
          <p:nvPr/>
        </p:nvSpPr>
        <p:spPr>
          <a:xfrm>
            <a:off x="7875720" y="7205400"/>
            <a:ext cx="5373720" cy="353520"/>
          </a:xfrm>
          <a:custGeom>
            <a:avLst/>
            <a:gdLst>
              <a:gd name="textAreaLeft" fmla="*/ 0 w 5373720"/>
              <a:gd name="textAreaRight" fmla="*/ 5374800 w 5373720"/>
              <a:gd name="textAreaTop" fmla="*/ 0 h 353520"/>
              <a:gd name="textAreaBottom" fmla="*/ 354600 h 353520"/>
            </a:gdLst>
            <a:ahLst/>
            <a:cxnLst/>
            <a:rect l="textAreaLeft" t="textAreaTop" r="textAreaRight" b="textAreaBottom"/>
            <a:pathLst>
              <a:path w="5374871" h="354598">
                <a:moveTo>
                  <a:pt x="0" y="0"/>
                </a:moveTo>
                <a:lnTo>
                  <a:pt x="5374870" y="0"/>
                </a:lnTo>
                <a:lnTo>
                  <a:pt x="5374870" y="354599"/>
                </a:lnTo>
                <a:lnTo>
                  <a:pt x="0" y="3545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29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9"/>
          <p:cNvSpPr/>
          <p:nvPr/>
        </p:nvSpPr>
        <p:spPr>
          <a:xfrm>
            <a:off x="9064080" y="4125600"/>
            <a:ext cx="213408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96"/>
              </a:lnSpc>
              <a:tabLst>
                <a:tab algn="l" pos="0"/>
              </a:tabLst>
            </a:pPr>
            <a:r>
              <a:rPr b="1" lang="en-US" sz="2710" strike="noStrike" u="none">
                <a:solidFill>
                  <a:srgbClr val="ffffff"/>
                </a:solidFill>
                <a:effectLst/>
                <a:uFillTx/>
                <a:latin typeface="TT Hoves Bold"/>
                <a:ea typeface="TT Hoves Bold"/>
              </a:rPr>
              <a:t>χ² = 4428,40</a:t>
            </a:r>
            <a:endParaRPr b="0" lang="es-ES" sz="2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Freeform 20"/>
          <p:cNvSpPr/>
          <p:nvPr/>
        </p:nvSpPr>
        <p:spPr>
          <a:xfrm>
            <a:off x="11840040" y="4029840"/>
            <a:ext cx="648720" cy="665640"/>
          </a:xfrm>
          <a:custGeom>
            <a:avLst/>
            <a:gdLst>
              <a:gd name="textAreaLeft" fmla="*/ 0 w 648720"/>
              <a:gd name="textAreaRight" fmla="*/ 649800 w 648720"/>
              <a:gd name="textAreaTop" fmla="*/ 0 h 665640"/>
              <a:gd name="textAreaBottom" fmla="*/ 666720 h 665640"/>
            </a:gdLst>
            <a:ahLst/>
            <a:cxnLst/>
            <a:rect l="textAreaLeft" t="textAreaTop" r="textAreaRight" b="textAreaBottom"/>
            <a:pathLst>
              <a:path w="649778" h="666750">
                <a:moveTo>
                  <a:pt x="0" y="0"/>
                </a:moveTo>
                <a:lnTo>
                  <a:pt x="649778" y="0"/>
                </a:lnTo>
                <a:lnTo>
                  <a:pt x="649778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Freeform 21"/>
          <p:cNvSpPr/>
          <p:nvPr/>
        </p:nvSpPr>
        <p:spPr>
          <a:xfrm>
            <a:off x="11772720" y="5476320"/>
            <a:ext cx="568800" cy="665640"/>
          </a:xfrm>
          <a:custGeom>
            <a:avLst/>
            <a:gdLst>
              <a:gd name="textAreaLeft" fmla="*/ 0 w 568800"/>
              <a:gd name="textAreaRight" fmla="*/ 569880 w 568800"/>
              <a:gd name="textAreaTop" fmla="*/ 0 h 665640"/>
              <a:gd name="textAreaBottom" fmla="*/ 666720 h 665640"/>
            </a:gdLst>
            <a:ahLst/>
            <a:cxnLst/>
            <a:rect l="textAreaLeft" t="textAreaTop" r="textAreaRight" b="textAreaBottom"/>
            <a:pathLst>
              <a:path w="569768" h="666750">
                <a:moveTo>
                  <a:pt x="0" y="0"/>
                </a:moveTo>
                <a:lnTo>
                  <a:pt x="569768" y="0"/>
                </a:lnTo>
                <a:lnTo>
                  <a:pt x="569768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22"/>
          <p:cNvSpPr/>
          <p:nvPr/>
        </p:nvSpPr>
        <p:spPr>
          <a:xfrm>
            <a:off x="9000720" y="5527800"/>
            <a:ext cx="554292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96"/>
              </a:lnSpc>
              <a:tabLst>
                <a:tab algn="l" pos="0"/>
              </a:tabLst>
            </a:pPr>
            <a:r>
              <a:rPr b="1" lang="en-US" sz="2710" strike="noStrike" u="none">
                <a:solidFill>
                  <a:srgbClr val="ffffff"/>
                </a:solidFill>
                <a:effectLst/>
                <a:uFillTx/>
                <a:latin typeface="TT Hoves Bold"/>
                <a:ea typeface="TT Hoves Bold"/>
              </a:rPr>
              <a:t>p-valor &lt; 0,001</a:t>
            </a:r>
            <a:endParaRPr b="0" lang="es-ES" sz="2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reeform 2"/>
          <p:cNvSpPr/>
          <p:nvPr/>
        </p:nvSpPr>
        <p:spPr>
          <a:xfrm>
            <a:off x="6008760" y="1028880"/>
            <a:ext cx="10723680" cy="8508600"/>
          </a:xfrm>
          <a:custGeom>
            <a:avLst/>
            <a:gdLst>
              <a:gd name="textAreaLeft" fmla="*/ 0 w 10723680"/>
              <a:gd name="textAreaRight" fmla="*/ 10724760 w 10723680"/>
              <a:gd name="textAreaTop" fmla="*/ 0 h 8508600"/>
              <a:gd name="textAreaBottom" fmla="*/ 8509680 h 8508600"/>
            </a:gdLst>
            <a:ahLst/>
            <a:cxnLst/>
            <a:rect l="textAreaLeft" t="textAreaTop" r="textAreaRight" b="textAreaBottom"/>
            <a:pathLst>
              <a:path w="10724648" h="8509574">
                <a:moveTo>
                  <a:pt x="0" y="0"/>
                </a:moveTo>
                <a:lnTo>
                  <a:pt x="10724648" y="0"/>
                </a:lnTo>
                <a:lnTo>
                  <a:pt x="10724648" y="8509574"/>
                </a:lnTo>
                <a:lnTo>
                  <a:pt x="0" y="85095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Freeform 3"/>
          <p:cNvSpPr/>
          <p:nvPr/>
        </p:nvSpPr>
        <p:spPr>
          <a:xfrm>
            <a:off x="2205360" y="7116120"/>
            <a:ext cx="2599920" cy="170640"/>
          </a:xfrm>
          <a:custGeom>
            <a:avLst/>
            <a:gdLst>
              <a:gd name="textAreaLeft" fmla="*/ 0 w 2599920"/>
              <a:gd name="textAreaRight" fmla="*/ 2601000 w 2599920"/>
              <a:gd name="textAreaTop" fmla="*/ 0 h 170640"/>
              <a:gd name="textAreaBottom" fmla="*/ 171720 h 170640"/>
            </a:gdLst>
            <a:ahLst/>
            <a:cxnLst/>
            <a:rect l="textAreaLeft" t="textAreaTop" r="textAreaRight" b="textAreaBottom"/>
            <a:pathLst>
              <a:path w="2600904" h="171590">
                <a:moveTo>
                  <a:pt x="0" y="0"/>
                </a:moveTo>
                <a:lnTo>
                  <a:pt x="2600904" y="0"/>
                </a:lnTo>
                <a:lnTo>
                  <a:pt x="2600904" y="171590"/>
                </a:lnTo>
                <a:lnTo>
                  <a:pt x="0" y="1715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4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5" name="Group 4"/>
          <p:cNvGrpSpPr/>
          <p:nvPr/>
        </p:nvGrpSpPr>
        <p:grpSpPr>
          <a:xfrm>
            <a:off x="1905480" y="3758760"/>
            <a:ext cx="3400560" cy="3775680"/>
            <a:chOff x="1905480" y="3758760"/>
            <a:chExt cx="3400560" cy="3775680"/>
          </a:xfrm>
        </p:grpSpPr>
        <p:sp>
          <p:nvSpPr>
            <p:cNvPr id="206" name="Freeform 5"/>
            <p:cNvSpPr/>
            <p:nvPr/>
          </p:nvSpPr>
          <p:spPr>
            <a:xfrm>
              <a:off x="1905480" y="3970800"/>
              <a:ext cx="3400560" cy="3563640"/>
            </a:xfrm>
            <a:custGeom>
              <a:avLst/>
              <a:gdLst>
                <a:gd name="textAreaLeft" fmla="*/ 0 w 3400560"/>
                <a:gd name="textAreaRight" fmla="*/ 3401640 w 3400560"/>
                <a:gd name="textAreaTop" fmla="*/ 0 h 3563640"/>
                <a:gd name="textAreaBottom" fmla="*/ 3564720 h 3563640"/>
              </a:gdLst>
              <a:ahLst/>
              <a:cxnLst/>
              <a:rect l="textAreaLeft" t="textAreaTop" r="textAreaRight" b="textAreaBottom"/>
              <a:pathLst>
                <a:path w="764074" h="800638">
                  <a:moveTo>
                    <a:pt x="45517" y="0"/>
                  </a:moveTo>
                  <a:lnTo>
                    <a:pt x="718557" y="0"/>
                  </a:lnTo>
                  <a:cubicBezTo>
                    <a:pt x="730629" y="0"/>
                    <a:pt x="742206" y="4796"/>
                    <a:pt x="750742" y="13332"/>
                  </a:cubicBezTo>
                  <a:cubicBezTo>
                    <a:pt x="759278" y="21868"/>
                    <a:pt x="764074" y="33445"/>
                    <a:pt x="764074" y="45517"/>
                  </a:cubicBezTo>
                  <a:lnTo>
                    <a:pt x="764074" y="755120"/>
                  </a:lnTo>
                  <a:cubicBezTo>
                    <a:pt x="764074" y="780259"/>
                    <a:pt x="743695" y="800638"/>
                    <a:pt x="718557" y="800638"/>
                  </a:cubicBezTo>
                  <a:lnTo>
                    <a:pt x="45517" y="800638"/>
                  </a:lnTo>
                  <a:cubicBezTo>
                    <a:pt x="20379" y="800638"/>
                    <a:pt x="0" y="780259"/>
                    <a:pt x="0" y="755120"/>
                  </a:cubicBezTo>
                  <a:lnTo>
                    <a:pt x="0" y="45517"/>
                  </a:lnTo>
                  <a:cubicBezTo>
                    <a:pt x="0" y="20379"/>
                    <a:pt x="20379" y="0"/>
                    <a:pt x="4551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Box 6"/>
            <p:cNvSpPr/>
            <p:nvPr/>
          </p:nvSpPr>
          <p:spPr>
            <a:xfrm>
              <a:off x="1905480" y="3758760"/>
              <a:ext cx="3400560" cy="37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52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08" name="Freeform 7"/>
          <p:cNvSpPr/>
          <p:nvPr/>
        </p:nvSpPr>
        <p:spPr>
          <a:xfrm>
            <a:off x="1870560" y="2507400"/>
            <a:ext cx="3724200" cy="2380320"/>
          </a:xfrm>
          <a:custGeom>
            <a:avLst/>
            <a:gdLst>
              <a:gd name="textAreaLeft" fmla="*/ 0 w 3724200"/>
              <a:gd name="textAreaRight" fmla="*/ 3725280 w 3724200"/>
              <a:gd name="textAreaTop" fmla="*/ 0 h 2380320"/>
              <a:gd name="textAreaBottom" fmla="*/ 2381400 h 2380320"/>
            </a:gdLst>
            <a:ahLst/>
            <a:cxnLst/>
            <a:rect l="textAreaLeft" t="textAreaTop" r="textAreaRight" b="textAreaBottom"/>
            <a:pathLst>
              <a:path w="3725231" h="2381282">
                <a:moveTo>
                  <a:pt x="0" y="0"/>
                </a:moveTo>
                <a:lnTo>
                  <a:pt x="3725230" y="0"/>
                </a:lnTo>
                <a:lnTo>
                  <a:pt x="3725230" y="2381282"/>
                </a:lnTo>
                <a:lnTo>
                  <a:pt x="0" y="23812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8"/>
          <p:cNvSpPr/>
          <p:nvPr/>
        </p:nvSpPr>
        <p:spPr>
          <a:xfrm>
            <a:off x="2875680" y="2740320"/>
            <a:ext cx="171432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595"/>
              </a:lnSpc>
              <a:tabLst>
                <a:tab algn="l" pos="0"/>
              </a:tabLst>
            </a:pPr>
            <a:r>
              <a:rPr b="1" lang="en-US" sz="3290" strike="noStrike" u="none">
                <a:solidFill>
                  <a:srgbClr val="292f56"/>
                </a:solidFill>
                <a:effectLst/>
                <a:uFillTx/>
                <a:latin typeface="TT Hoves Bold"/>
                <a:ea typeface="TT Hoves Bold"/>
              </a:rPr>
              <a:t>01</a:t>
            </a:r>
            <a:endParaRPr b="0" lang="es-ES" sz="32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9"/>
          <p:cNvSpPr/>
          <p:nvPr/>
        </p:nvSpPr>
        <p:spPr>
          <a:xfrm>
            <a:off x="2081520" y="5443200"/>
            <a:ext cx="3513240" cy="19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625"/>
              </a:lnSpc>
            </a:pPr>
            <a:r>
              <a:rPr b="0" lang="en-US" sz="1870" spc="28" strike="noStrike" u="none">
                <a:solidFill>
                  <a:srgbClr val="000000"/>
                </a:solidFill>
                <a:effectLst/>
                <a:uFillTx/>
                <a:latin typeface="TT Hoves"/>
                <a:ea typeface="TT Hoves"/>
              </a:rPr>
              <a:t>Mayores ingresos – Mayor edad media</a:t>
            </a:r>
            <a:endParaRPr b="0" lang="es-E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625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625"/>
              </a:lnSpc>
            </a:pPr>
            <a:r>
              <a:rPr b="0" lang="en-US" sz="1870" spc="28" strike="noStrike" u="none">
                <a:solidFill>
                  <a:srgbClr val="000000"/>
                </a:solidFill>
                <a:effectLst/>
                <a:uFillTx/>
                <a:latin typeface="TT Hoves"/>
                <a:ea typeface="TT Hoves"/>
              </a:rPr>
              <a:t>Diferencias significativas</a:t>
            </a:r>
            <a:endParaRPr b="0" lang="es-E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625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625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0"/>
          <p:cNvSpPr/>
          <p:nvPr/>
        </p:nvSpPr>
        <p:spPr>
          <a:xfrm>
            <a:off x="2230200" y="4280760"/>
            <a:ext cx="275148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54"/>
              </a:lnSpc>
              <a:tabLst>
                <a:tab algn="l" pos="0"/>
              </a:tabLst>
            </a:pPr>
            <a:r>
              <a:rPr b="1" lang="en-US" sz="2110" strike="noStrike" u="none">
                <a:solidFill>
                  <a:srgbClr val="292f56"/>
                </a:solidFill>
                <a:effectLst/>
                <a:uFillTx/>
                <a:latin typeface="TT Hoves Bold"/>
                <a:ea typeface="TT Hoves Bold"/>
              </a:rPr>
              <a:t>Edad y niveles de ingresos</a:t>
            </a:r>
            <a:endParaRPr b="0" lang="es-ES" sz="2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2"/>
          <p:cNvGrpSpPr/>
          <p:nvPr/>
        </p:nvGrpSpPr>
        <p:grpSpPr>
          <a:xfrm>
            <a:off x="6945840" y="3640320"/>
            <a:ext cx="5542920" cy="1371600"/>
            <a:chOff x="6945840" y="3640320"/>
            <a:chExt cx="5542920" cy="1371600"/>
          </a:xfrm>
        </p:grpSpPr>
        <p:sp>
          <p:nvSpPr>
            <p:cNvPr id="213" name="Freeform 3"/>
            <p:cNvSpPr/>
            <p:nvPr/>
          </p:nvSpPr>
          <p:spPr>
            <a:xfrm>
              <a:off x="6945840" y="3713400"/>
              <a:ext cx="5542920" cy="1298520"/>
            </a:xfrm>
            <a:custGeom>
              <a:avLst/>
              <a:gdLst>
                <a:gd name="textAreaLeft" fmla="*/ 0 w 5542920"/>
                <a:gd name="textAreaRight" fmla="*/ 5544000 w 5542920"/>
                <a:gd name="textAreaTop" fmla="*/ 0 h 1298520"/>
                <a:gd name="textAreaBottom" fmla="*/ 1299600 h 1298520"/>
              </a:gdLst>
              <a:ahLst/>
              <a:cxnLst/>
              <a:rect l="textAreaLeft" t="textAreaTop" r="textAreaRight" b="textAreaBottom"/>
              <a:pathLst>
                <a:path w="1445080" h="338786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solidFill>
              <a:srgbClr val="292f5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TextBox 4"/>
            <p:cNvSpPr/>
            <p:nvPr/>
          </p:nvSpPr>
          <p:spPr>
            <a:xfrm>
              <a:off x="6945840" y="3640320"/>
              <a:ext cx="5542920" cy="137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3560" rIns="43560" tIns="43560" bIns="43560" anchor="ctr">
              <a:noAutofit/>
            </a:bodyPr>
            <a:p>
              <a:pPr algn="ctr" defTabSz="914400">
                <a:lnSpc>
                  <a:spcPts val="2163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15" name="Group 5"/>
          <p:cNvGrpSpPr/>
          <p:nvPr/>
        </p:nvGrpSpPr>
        <p:grpSpPr>
          <a:xfrm>
            <a:off x="12045600" y="3088800"/>
            <a:ext cx="1841400" cy="1923480"/>
            <a:chOff x="12045600" y="3088800"/>
            <a:chExt cx="1841400" cy="1923480"/>
          </a:xfrm>
        </p:grpSpPr>
        <p:sp>
          <p:nvSpPr>
            <p:cNvPr id="216" name="Freeform 6"/>
            <p:cNvSpPr/>
            <p:nvPr/>
          </p:nvSpPr>
          <p:spPr>
            <a:xfrm>
              <a:off x="12045600" y="3088800"/>
              <a:ext cx="1841400" cy="1923480"/>
            </a:xfrm>
            <a:custGeom>
              <a:avLst/>
              <a:gdLst>
                <a:gd name="textAreaLeft" fmla="*/ 0 w 1841400"/>
                <a:gd name="textAreaRight" fmla="*/ 1842480 w 1841400"/>
                <a:gd name="textAreaTop" fmla="*/ 0 h 1923480"/>
                <a:gd name="textAreaBottom" fmla="*/ 1924560 h 1923480"/>
              </a:gdLst>
              <a:ahLst/>
              <a:cxnLst/>
              <a:rect l="textAreaLeft" t="textAreaTop" r="textAreaRight" b="textAreaBottom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292f5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TextBox 7"/>
            <p:cNvSpPr/>
            <p:nvPr/>
          </p:nvSpPr>
          <p:spPr>
            <a:xfrm>
              <a:off x="12045600" y="3989520"/>
              <a:ext cx="920160" cy="102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3560" rIns="43560" tIns="43560" bIns="43560" anchor="ctr">
              <a:noAutofit/>
            </a:bodyPr>
            <a:p>
              <a:pPr algn="ctr" defTabSz="914400">
                <a:lnSpc>
                  <a:spcPts val="2163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18" name="Group 8"/>
          <p:cNvGrpSpPr/>
          <p:nvPr/>
        </p:nvGrpSpPr>
        <p:grpSpPr>
          <a:xfrm>
            <a:off x="6945840" y="5086800"/>
            <a:ext cx="5542920" cy="1371600"/>
            <a:chOff x="6945840" y="5086800"/>
            <a:chExt cx="5542920" cy="1371600"/>
          </a:xfrm>
        </p:grpSpPr>
        <p:sp>
          <p:nvSpPr>
            <p:cNvPr id="219" name="Freeform 9"/>
            <p:cNvSpPr/>
            <p:nvPr/>
          </p:nvSpPr>
          <p:spPr>
            <a:xfrm>
              <a:off x="6945840" y="5159880"/>
              <a:ext cx="5542920" cy="1298520"/>
            </a:xfrm>
            <a:custGeom>
              <a:avLst/>
              <a:gdLst>
                <a:gd name="textAreaLeft" fmla="*/ 0 w 5542920"/>
                <a:gd name="textAreaRight" fmla="*/ 5544000 w 5542920"/>
                <a:gd name="textAreaTop" fmla="*/ 0 h 1298520"/>
                <a:gd name="textAreaBottom" fmla="*/ 1299600 h 1298520"/>
              </a:gdLst>
              <a:ahLst/>
              <a:cxnLst/>
              <a:rect l="textAreaLeft" t="textAreaTop" r="textAreaRight" b="textAreaBottom"/>
              <a:pathLst>
                <a:path w="1445080" h="338786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solidFill>
              <a:srgbClr val="00889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TextBox 10"/>
            <p:cNvSpPr/>
            <p:nvPr/>
          </p:nvSpPr>
          <p:spPr>
            <a:xfrm>
              <a:off x="6945840" y="5086800"/>
              <a:ext cx="5542920" cy="137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3560" rIns="43560" tIns="43560" bIns="43560" anchor="ctr">
              <a:noAutofit/>
            </a:bodyPr>
            <a:p>
              <a:pPr algn="ctr" defTabSz="914400">
                <a:lnSpc>
                  <a:spcPts val="2163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21" name="Group 11"/>
          <p:cNvGrpSpPr/>
          <p:nvPr/>
        </p:nvGrpSpPr>
        <p:grpSpPr>
          <a:xfrm>
            <a:off x="12046680" y="5143680"/>
            <a:ext cx="1841400" cy="1762920"/>
            <a:chOff x="12046680" y="5143680"/>
            <a:chExt cx="1841400" cy="1762920"/>
          </a:xfrm>
        </p:grpSpPr>
        <p:sp>
          <p:nvSpPr>
            <p:cNvPr id="222" name="Freeform 12"/>
            <p:cNvSpPr/>
            <p:nvPr/>
          </p:nvSpPr>
          <p:spPr>
            <a:xfrm rot="5400000">
              <a:off x="12085920" y="5104440"/>
              <a:ext cx="1762920" cy="1841400"/>
            </a:xfrm>
            <a:custGeom>
              <a:avLst/>
              <a:gdLst>
                <a:gd name="textAreaLeft" fmla="*/ 0 w 1762920"/>
                <a:gd name="textAreaRight" fmla="*/ 1764000 w 1762920"/>
                <a:gd name="textAreaTop" fmla="*/ 0 h 1841400"/>
                <a:gd name="textAreaBottom" fmla="*/ 1842480 h 1841400"/>
              </a:gdLst>
              <a:ahLst/>
              <a:cxnLst/>
              <a:rect l="textAreaLeft" t="textAreaTop" r="textAreaRight" b="textAreaBottom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00889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TextBox 13"/>
            <p:cNvSpPr/>
            <p:nvPr/>
          </p:nvSpPr>
          <p:spPr>
            <a:xfrm rot="5400000">
              <a:off x="12095640" y="5094720"/>
              <a:ext cx="880920" cy="97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3560" rIns="43560" tIns="43560" bIns="43560" anchor="ctr">
              <a:noAutofit/>
            </a:bodyPr>
            <a:p>
              <a:pPr algn="ctr" defTabSz="914400">
                <a:lnSpc>
                  <a:spcPts val="2163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24" name="Freeform 14"/>
          <p:cNvSpPr/>
          <p:nvPr/>
        </p:nvSpPr>
        <p:spPr>
          <a:xfrm>
            <a:off x="3964320" y="2419920"/>
            <a:ext cx="5452920" cy="5446080"/>
          </a:xfrm>
          <a:custGeom>
            <a:avLst/>
            <a:gdLst>
              <a:gd name="textAreaLeft" fmla="*/ 0 w 5452920"/>
              <a:gd name="textAreaRight" fmla="*/ 5454000 w 5452920"/>
              <a:gd name="textAreaTop" fmla="*/ 0 h 5446080"/>
              <a:gd name="textAreaBottom" fmla="*/ 5447160 h 5446080"/>
            </a:gdLst>
            <a:ahLst/>
            <a:cxnLst/>
            <a:rect l="textAreaLeft" t="textAreaTop" r="textAreaRight" b="textAreaBottom"/>
            <a:pathLst>
              <a:path w="5454107" h="5447290">
                <a:moveTo>
                  <a:pt x="0" y="0"/>
                </a:moveTo>
                <a:lnTo>
                  <a:pt x="5454107" y="0"/>
                </a:lnTo>
                <a:lnTo>
                  <a:pt x="5454107" y="5447290"/>
                </a:lnTo>
                <a:lnTo>
                  <a:pt x="0" y="54472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5" name="Group 15"/>
          <p:cNvGrpSpPr/>
          <p:nvPr/>
        </p:nvGrpSpPr>
        <p:grpSpPr>
          <a:xfrm>
            <a:off x="3964320" y="2995920"/>
            <a:ext cx="4563000" cy="4563000"/>
            <a:chOff x="3964320" y="2995920"/>
            <a:chExt cx="4563000" cy="4563000"/>
          </a:xfrm>
        </p:grpSpPr>
        <p:sp>
          <p:nvSpPr>
            <p:cNvPr id="226" name="Freeform 16"/>
            <p:cNvSpPr/>
            <p:nvPr/>
          </p:nvSpPr>
          <p:spPr>
            <a:xfrm>
              <a:off x="3964320" y="2995920"/>
              <a:ext cx="4563000" cy="4563000"/>
            </a:xfrm>
            <a:custGeom>
              <a:avLst/>
              <a:gdLst>
                <a:gd name="textAreaLeft" fmla="*/ 0 w 4563000"/>
                <a:gd name="textAreaRight" fmla="*/ 4564080 w 4563000"/>
                <a:gd name="textAreaTop" fmla="*/ 0 h 4563000"/>
                <a:gd name="textAreaBottom" fmla="*/ 4564080 h 45630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TextBox 17"/>
            <p:cNvSpPr/>
            <p:nvPr/>
          </p:nvSpPr>
          <p:spPr>
            <a:xfrm>
              <a:off x="4392360" y="2995920"/>
              <a:ext cx="3707280" cy="4134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5040"/>
                </a:lnSpc>
                <a:tabLst>
                  <a:tab algn="l" pos="0"/>
                </a:tabLst>
              </a:pPr>
              <a:r>
                <a:rPr b="1" lang="en-US" sz="3600" strike="noStrike" u="none">
                  <a:solidFill>
                    <a:srgbClr val="292f56"/>
                  </a:solidFill>
                  <a:effectLst/>
                  <a:uFillTx/>
                  <a:latin typeface="TT Hoves Bold"/>
                  <a:ea typeface="TT Hoves Bold"/>
                </a:rPr>
                <a:t>Test man-withney(edad)</a:t>
              </a:r>
              <a:endParaRPr b="0" lang="es-ES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" name="Freeform 18"/>
          <p:cNvSpPr/>
          <p:nvPr/>
        </p:nvSpPr>
        <p:spPr>
          <a:xfrm>
            <a:off x="7875720" y="7205400"/>
            <a:ext cx="5373720" cy="353520"/>
          </a:xfrm>
          <a:custGeom>
            <a:avLst/>
            <a:gdLst>
              <a:gd name="textAreaLeft" fmla="*/ 0 w 5373720"/>
              <a:gd name="textAreaRight" fmla="*/ 5374800 w 5373720"/>
              <a:gd name="textAreaTop" fmla="*/ 0 h 353520"/>
              <a:gd name="textAreaBottom" fmla="*/ 354600 h 353520"/>
            </a:gdLst>
            <a:ahLst/>
            <a:cxnLst/>
            <a:rect l="textAreaLeft" t="textAreaTop" r="textAreaRight" b="textAreaBottom"/>
            <a:pathLst>
              <a:path w="5374871" h="354598">
                <a:moveTo>
                  <a:pt x="0" y="0"/>
                </a:moveTo>
                <a:lnTo>
                  <a:pt x="5374870" y="0"/>
                </a:lnTo>
                <a:lnTo>
                  <a:pt x="5374870" y="354599"/>
                </a:lnTo>
                <a:lnTo>
                  <a:pt x="0" y="3545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29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9"/>
          <p:cNvSpPr/>
          <p:nvPr/>
        </p:nvSpPr>
        <p:spPr>
          <a:xfrm>
            <a:off x="8850240" y="4125600"/>
            <a:ext cx="342468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96"/>
              </a:lnSpc>
              <a:tabLst>
                <a:tab algn="l" pos="0"/>
              </a:tabLst>
            </a:pPr>
            <a:r>
              <a:rPr b="1" lang="en-US" sz="2710" strike="noStrike" u="none">
                <a:solidFill>
                  <a:srgbClr val="ffffff"/>
                </a:solidFill>
                <a:effectLst/>
                <a:uFillTx/>
                <a:latin typeface="TT Hoves Bold"/>
                <a:ea typeface="TT Hoves Bold"/>
              </a:rPr>
              <a:t>Edad vs Ingresos</a:t>
            </a:r>
            <a:endParaRPr b="0" lang="es-ES" sz="2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0"/>
          <p:cNvSpPr/>
          <p:nvPr/>
        </p:nvSpPr>
        <p:spPr>
          <a:xfrm>
            <a:off x="9000720" y="5527800"/>
            <a:ext cx="554292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96"/>
              </a:lnSpc>
              <a:tabLst>
                <a:tab algn="l" pos="0"/>
              </a:tabLst>
            </a:pPr>
            <a:r>
              <a:rPr b="1" lang="en-US" sz="2710" strike="noStrike" u="none">
                <a:solidFill>
                  <a:srgbClr val="ffffff"/>
                </a:solidFill>
                <a:effectLst/>
                <a:uFillTx/>
                <a:latin typeface="TT Hoves Bold"/>
                <a:ea typeface="TT Hoves Bold"/>
              </a:rPr>
              <a:t>Diferencias significativas</a:t>
            </a:r>
            <a:endParaRPr b="0" lang="es-ES" sz="2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1"/>
          <p:cNvSpPr/>
          <p:nvPr/>
        </p:nvSpPr>
        <p:spPr>
          <a:xfrm>
            <a:off x="6246360" y="8124480"/>
            <a:ext cx="6849360" cy="11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81"/>
              </a:lnSpc>
            </a:pPr>
            <a:r>
              <a:rPr b="0" lang="en-US" sz="2200" spc="34" strike="noStrike" u="none">
                <a:solidFill>
                  <a:srgbClr val="292f56"/>
                </a:solidFill>
                <a:effectLst/>
                <a:uFillTx/>
                <a:latin typeface="Aileron"/>
                <a:ea typeface="Aileron"/>
              </a:rPr>
              <a:t>p-value &lt; 0.05 →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081"/>
              </a:lnSpc>
            </a:pPr>
            <a:r>
              <a:rPr b="0" lang="en-US" sz="2200" spc="34" strike="noStrike" u="none">
                <a:solidFill>
                  <a:srgbClr val="292f56"/>
                </a:solidFill>
                <a:effectLst/>
                <a:uFillTx/>
                <a:latin typeface="Aileron"/>
                <a:ea typeface="Aileron"/>
              </a:rPr>
              <a:t>Diferencia estadísticamente significativa en la edad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081"/>
              </a:lnSpc>
            </a:pPr>
            <a:r>
              <a:rPr b="0" lang="en-US" sz="2200" spc="34" strike="noStrike" u="none">
                <a:solidFill>
                  <a:srgbClr val="292f56"/>
                </a:solidFill>
                <a:effectLst/>
                <a:uFillTx/>
                <a:latin typeface="Aileron"/>
                <a:ea typeface="Aileron"/>
              </a:rPr>
              <a:t>El grupo de mayores ingresos tiende a ser más adulto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Freeform 2"/>
          <p:cNvSpPr/>
          <p:nvPr/>
        </p:nvSpPr>
        <p:spPr>
          <a:xfrm>
            <a:off x="5330880" y="1545840"/>
            <a:ext cx="12398040" cy="8175600"/>
          </a:xfrm>
          <a:custGeom>
            <a:avLst/>
            <a:gdLst>
              <a:gd name="textAreaLeft" fmla="*/ 0 w 12398040"/>
              <a:gd name="textAreaRight" fmla="*/ 12399120 w 12398040"/>
              <a:gd name="textAreaTop" fmla="*/ 0 h 8175600"/>
              <a:gd name="textAreaBottom" fmla="*/ 8176680 h 8175600"/>
            </a:gdLst>
            <a:ahLst/>
            <a:cxnLst/>
            <a:rect l="textAreaLeft" t="textAreaTop" r="textAreaRight" b="textAreaBottom"/>
            <a:pathLst>
              <a:path w="12398972" h="8176523">
                <a:moveTo>
                  <a:pt x="0" y="0"/>
                </a:moveTo>
                <a:lnTo>
                  <a:pt x="12398972" y="0"/>
                </a:lnTo>
                <a:lnTo>
                  <a:pt x="12398972" y="8176523"/>
                </a:lnTo>
                <a:lnTo>
                  <a:pt x="0" y="817652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Freeform 3"/>
          <p:cNvSpPr/>
          <p:nvPr/>
        </p:nvSpPr>
        <p:spPr>
          <a:xfrm>
            <a:off x="2110320" y="7558560"/>
            <a:ext cx="2995200" cy="196560"/>
          </a:xfrm>
          <a:custGeom>
            <a:avLst/>
            <a:gdLst>
              <a:gd name="textAreaLeft" fmla="*/ 0 w 2995200"/>
              <a:gd name="textAreaRight" fmla="*/ 2996280 w 2995200"/>
              <a:gd name="textAreaTop" fmla="*/ 0 h 196560"/>
              <a:gd name="textAreaBottom" fmla="*/ 197640 h 196560"/>
            </a:gdLst>
            <a:ahLst/>
            <a:cxnLst/>
            <a:rect l="textAreaLeft" t="textAreaTop" r="textAreaRight" b="textAreaBottom"/>
            <a:pathLst>
              <a:path w="2996372" h="197681">
                <a:moveTo>
                  <a:pt x="0" y="0"/>
                </a:moveTo>
                <a:lnTo>
                  <a:pt x="2996372" y="0"/>
                </a:lnTo>
                <a:lnTo>
                  <a:pt x="2996372" y="197681"/>
                </a:lnTo>
                <a:lnTo>
                  <a:pt x="0" y="1976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4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" name="Group 4"/>
          <p:cNvGrpSpPr/>
          <p:nvPr/>
        </p:nvGrpSpPr>
        <p:grpSpPr>
          <a:xfrm>
            <a:off x="1319040" y="4045680"/>
            <a:ext cx="3341160" cy="3709440"/>
            <a:chOff x="1319040" y="4045680"/>
            <a:chExt cx="3341160" cy="3709440"/>
          </a:xfrm>
        </p:grpSpPr>
        <p:sp>
          <p:nvSpPr>
            <p:cNvPr id="235" name="Freeform 5"/>
            <p:cNvSpPr/>
            <p:nvPr/>
          </p:nvSpPr>
          <p:spPr>
            <a:xfrm>
              <a:off x="1319040" y="4253760"/>
              <a:ext cx="3341160" cy="3501000"/>
            </a:xfrm>
            <a:custGeom>
              <a:avLst/>
              <a:gdLst>
                <a:gd name="textAreaLeft" fmla="*/ 0 w 3341160"/>
                <a:gd name="textAreaRight" fmla="*/ 3342240 w 3341160"/>
                <a:gd name="textAreaTop" fmla="*/ 0 h 3501000"/>
                <a:gd name="textAreaBottom" fmla="*/ 3502080 h 3501000"/>
              </a:gdLst>
              <a:ahLst/>
              <a:cxnLst/>
              <a:rect l="textAreaLeft" t="textAreaTop" r="textAreaRight" b="textAreaBottom"/>
              <a:pathLst>
                <a:path w="764074" h="800638">
                  <a:moveTo>
                    <a:pt x="46328" y="0"/>
                  </a:moveTo>
                  <a:lnTo>
                    <a:pt x="717746" y="0"/>
                  </a:lnTo>
                  <a:cubicBezTo>
                    <a:pt x="730033" y="0"/>
                    <a:pt x="741816" y="4881"/>
                    <a:pt x="750505" y="13569"/>
                  </a:cubicBezTo>
                  <a:cubicBezTo>
                    <a:pt x="759193" y="22257"/>
                    <a:pt x="764074" y="34041"/>
                    <a:pt x="764074" y="46328"/>
                  </a:cubicBezTo>
                  <a:lnTo>
                    <a:pt x="764074" y="754309"/>
                  </a:lnTo>
                  <a:cubicBezTo>
                    <a:pt x="764074" y="779896"/>
                    <a:pt x="743332" y="800638"/>
                    <a:pt x="717746" y="800638"/>
                  </a:cubicBezTo>
                  <a:lnTo>
                    <a:pt x="46328" y="800638"/>
                  </a:lnTo>
                  <a:cubicBezTo>
                    <a:pt x="20742" y="800638"/>
                    <a:pt x="0" y="779896"/>
                    <a:pt x="0" y="754309"/>
                  </a:cubicBezTo>
                  <a:lnTo>
                    <a:pt x="0" y="46328"/>
                  </a:lnTo>
                  <a:cubicBezTo>
                    <a:pt x="0" y="34041"/>
                    <a:pt x="4881" y="22257"/>
                    <a:pt x="13569" y="13569"/>
                  </a:cubicBezTo>
                  <a:cubicBezTo>
                    <a:pt x="22257" y="4881"/>
                    <a:pt x="34041" y="0"/>
                    <a:pt x="46328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Box 6"/>
            <p:cNvSpPr/>
            <p:nvPr/>
          </p:nvSpPr>
          <p:spPr>
            <a:xfrm>
              <a:off x="1319040" y="4045680"/>
              <a:ext cx="3341160" cy="370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52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37" name="Freeform 7"/>
          <p:cNvSpPr/>
          <p:nvPr/>
        </p:nvSpPr>
        <p:spPr>
          <a:xfrm>
            <a:off x="1284840" y="2815920"/>
            <a:ext cx="3659040" cy="2338560"/>
          </a:xfrm>
          <a:custGeom>
            <a:avLst/>
            <a:gdLst>
              <a:gd name="textAreaLeft" fmla="*/ 0 w 3659040"/>
              <a:gd name="textAreaRight" fmla="*/ 3660120 w 3659040"/>
              <a:gd name="textAreaTop" fmla="*/ 0 h 2338560"/>
              <a:gd name="textAreaBottom" fmla="*/ 2339640 h 2338560"/>
            </a:gdLst>
            <a:ahLst/>
            <a:cxnLst/>
            <a:rect l="textAreaLeft" t="textAreaTop" r="textAreaRight" b="textAreaBottom"/>
            <a:pathLst>
              <a:path w="3660004" h="2339587">
                <a:moveTo>
                  <a:pt x="0" y="0"/>
                </a:moveTo>
                <a:lnTo>
                  <a:pt x="3660004" y="0"/>
                </a:lnTo>
                <a:lnTo>
                  <a:pt x="3660004" y="2339587"/>
                </a:lnTo>
                <a:lnTo>
                  <a:pt x="0" y="23395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2271960" y="3057480"/>
            <a:ext cx="16844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516"/>
              </a:lnSpc>
              <a:tabLst>
                <a:tab algn="l" pos="0"/>
              </a:tabLst>
            </a:pPr>
            <a:r>
              <a:rPr b="1" lang="en-US" sz="3230" strike="noStrike" u="none">
                <a:solidFill>
                  <a:srgbClr val="292f56"/>
                </a:solidFill>
                <a:effectLst/>
                <a:uFillTx/>
                <a:latin typeface="TT Hoves Bold"/>
                <a:ea typeface="TT Hoves Bold"/>
              </a:rPr>
              <a:t>01</a:t>
            </a:r>
            <a:endParaRPr b="0" lang="es-ES" sz="3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1491840" y="5708880"/>
            <a:ext cx="3451680" cy="15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580"/>
              </a:lnSpc>
            </a:pPr>
            <a:r>
              <a:rPr b="0" lang="en-US" sz="1850" spc="28" strike="noStrike" u="none">
                <a:solidFill>
                  <a:srgbClr val="000000"/>
                </a:solidFill>
                <a:effectLst/>
                <a:uFillTx/>
                <a:latin typeface="TT Hoves"/>
                <a:ea typeface="TT Hoves"/>
              </a:rPr>
              <a:t>Casados → mayor proporción &gt;50K</a:t>
            </a:r>
            <a:endParaRPr b="0" lang="es-E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58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580"/>
              </a:lnSpc>
            </a:pPr>
            <a:r>
              <a:rPr b="0" lang="en-US" sz="1850" spc="28" strike="noStrike" u="none">
                <a:solidFill>
                  <a:srgbClr val="000000"/>
                </a:solidFill>
                <a:effectLst/>
                <a:uFillTx/>
                <a:latin typeface="TT Hoves"/>
                <a:ea typeface="TT Hoves"/>
              </a:rPr>
              <a:t>No casados → mayoría ≤50K</a:t>
            </a:r>
            <a:endParaRPr b="0" lang="es-E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58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1637640" y="4548240"/>
            <a:ext cx="270324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3"/>
              </a:lnSpc>
              <a:tabLst>
                <a:tab algn="l" pos="0"/>
              </a:tabLst>
            </a:pPr>
            <a:r>
              <a:rPr b="1" lang="en-US" sz="2070" strike="noStrike" u="none">
                <a:solidFill>
                  <a:srgbClr val="292f56"/>
                </a:solidFill>
                <a:effectLst/>
                <a:uFillTx/>
                <a:latin typeface="TT Hoves Bold"/>
                <a:ea typeface="TT Hoves Bold"/>
              </a:rPr>
              <a:t>Estado Civil VS Ingresos</a:t>
            </a:r>
            <a:endParaRPr b="0" lang="es-ES" sz="2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Freeform 2"/>
          <p:cNvSpPr/>
          <p:nvPr/>
        </p:nvSpPr>
        <p:spPr>
          <a:xfrm>
            <a:off x="5781240" y="458280"/>
            <a:ext cx="10557000" cy="9369000"/>
          </a:xfrm>
          <a:custGeom>
            <a:avLst/>
            <a:gdLst>
              <a:gd name="textAreaLeft" fmla="*/ 0 w 10557000"/>
              <a:gd name="textAreaRight" fmla="*/ 10558080 w 10557000"/>
              <a:gd name="textAreaTop" fmla="*/ 0 h 9369000"/>
              <a:gd name="textAreaBottom" fmla="*/ 9370080 h 9369000"/>
            </a:gdLst>
            <a:ahLst/>
            <a:cxnLst/>
            <a:rect l="textAreaLeft" t="textAreaTop" r="textAreaRight" b="textAreaBottom"/>
            <a:pathLst>
              <a:path w="10557967" h="9370195">
                <a:moveTo>
                  <a:pt x="0" y="0"/>
                </a:moveTo>
                <a:lnTo>
                  <a:pt x="10557966" y="0"/>
                </a:lnTo>
                <a:lnTo>
                  <a:pt x="10557966" y="9370196"/>
                </a:lnTo>
                <a:lnTo>
                  <a:pt x="0" y="93701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Freeform 3"/>
          <p:cNvSpPr/>
          <p:nvPr/>
        </p:nvSpPr>
        <p:spPr>
          <a:xfrm>
            <a:off x="2214000" y="6445080"/>
            <a:ext cx="2599920" cy="170640"/>
          </a:xfrm>
          <a:custGeom>
            <a:avLst/>
            <a:gdLst>
              <a:gd name="textAreaLeft" fmla="*/ 0 w 2599920"/>
              <a:gd name="textAreaRight" fmla="*/ 2601000 w 2599920"/>
              <a:gd name="textAreaTop" fmla="*/ 0 h 170640"/>
              <a:gd name="textAreaBottom" fmla="*/ 171720 h 170640"/>
            </a:gdLst>
            <a:ahLst/>
            <a:cxnLst/>
            <a:rect l="textAreaLeft" t="textAreaTop" r="textAreaRight" b="textAreaBottom"/>
            <a:pathLst>
              <a:path w="2600904" h="171590">
                <a:moveTo>
                  <a:pt x="0" y="0"/>
                </a:moveTo>
                <a:lnTo>
                  <a:pt x="2600904" y="0"/>
                </a:lnTo>
                <a:lnTo>
                  <a:pt x="2600904" y="171591"/>
                </a:lnTo>
                <a:lnTo>
                  <a:pt x="0" y="1715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4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3" name="Group 4"/>
          <p:cNvGrpSpPr/>
          <p:nvPr/>
        </p:nvGrpSpPr>
        <p:grpSpPr>
          <a:xfrm>
            <a:off x="1865520" y="3769920"/>
            <a:ext cx="2900160" cy="3219840"/>
            <a:chOff x="1865520" y="3769920"/>
            <a:chExt cx="2900160" cy="3219840"/>
          </a:xfrm>
        </p:grpSpPr>
        <p:sp>
          <p:nvSpPr>
            <p:cNvPr id="244" name="Freeform 5"/>
            <p:cNvSpPr/>
            <p:nvPr/>
          </p:nvSpPr>
          <p:spPr>
            <a:xfrm>
              <a:off x="1865520" y="3950640"/>
              <a:ext cx="2900160" cy="3038760"/>
            </a:xfrm>
            <a:custGeom>
              <a:avLst/>
              <a:gdLst>
                <a:gd name="textAreaLeft" fmla="*/ 0 w 2900160"/>
                <a:gd name="textAreaRight" fmla="*/ 2901240 w 2900160"/>
                <a:gd name="textAreaTop" fmla="*/ 0 h 3038760"/>
                <a:gd name="textAreaBottom" fmla="*/ 3039840 h 3038760"/>
              </a:gdLst>
              <a:ahLst/>
              <a:cxnLst/>
              <a:rect l="textAreaLeft" t="textAreaTop" r="textAreaRight" b="textAreaBottom"/>
              <a:pathLst>
                <a:path w="764074" h="800638">
                  <a:moveTo>
                    <a:pt x="53372" y="0"/>
                  </a:moveTo>
                  <a:lnTo>
                    <a:pt x="710701" y="0"/>
                  </a:lnTo>
                  <a:cubicBezTo>
                    <a:pt x="724857" y="0"/>
                    <a:pt x="738432" y="5623"/>
                    <a:pt x="748441" y="15632"/>
                  </a:cubicBezTo>
                  <a:cubicBezTo>
                    <a:pt x="758451" y="25642"/>
                    <a:pt x="764074" y="39217"/>
                    <a:pt x="764074" y="53372"/>
                  </a:cubicBezTo>
                  <a:lnTo>
                    <a:pt x="764074" y="747265"/>
                  </a:lnTo>
                  <a:cubicBezTo>
                    <a:pt x="764074" y="776742"/>
                    <a:pt x="740178" y="800638"/>
                    <a:pt x="710701" y="800638"/>
                  </a:cubicBezTo>
                  <a:lnTo>
                    <a:pt x="53372" y="800638"/>
                  </a:lnTo>
                  <a:cubicBezTo>
                    <a:pt x="23896" y="800638"/>
                    <a:pt x="0" y="776742"/>
                    <a:pt x="0" y="747265"/>
                  </a:cubicBezTo>
                  <a:lnTo>
                    <a:pt x="0" y="53372"/>
                  </a:lnTo>
                  <a:cubicBezTo>
                    <a:pt x="0" y="23896"/>
                    <a:pt x="23896" y="0"/>
                    <a:pt x="5337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TextBox 6"/>
            <p:cNvSpPr/>
            <p:nvPr/>
          </p:nvSpPr>
          <p:spPr>
            <a:xfrm>
              <a:off x="1865520" y="3769920"/>
              <a:ext cx="2900160" cy="321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801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46" name="Freeform 7"/>
          <p:cNvSpPr/>
          <p:nvPr/>
        </p:nvSpPr>
        <p:spPr>
          <a:xfrm>
            <a:off x="1836000" y="2702520"/>
            <a:ext cx="3175920" cy="2029680"/>
          </a:xfrm>
          <a:custGeom>
            <a:avLst/>
            <a:gdLst>
              <a:gd name="textAreaLeft" fmla="*/ 0 w 3175920"/>
              <a:gd name="textAreaRight" fmla="*/ 3177000 w 3175920"/>
              <a:gd name="textAreaTop" fmla="*/ 0 h 2029680"/>
              <a:gd name="textAreaBottom" fmla="*/ 2030760 h 2029680"/>
            </a:gdLst>
            <a:ahLst/>
            <a:cxnLst/>
            <a:rect l="textAreaLeft" t="textAreaTop" r="textAreaRight" b="textAreaBottom"/>
            <a:pathLst>
              <a:path w="3176949" h="2030804">
                <a:moveTo>
                  <a:pt x="0" y="0"/>
                </a:moveTo>
                <a:lnTo>
                  <a:pt x="3176949" y="0"/>
                </a:lnTo>
                <a:lnTo>
                  <a:pt x="3176949" y="2030804"/>
                </a:lnTo>
                <a:lnTo>
                  <a:pt x="0" y="20308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2692800" y="2881080"/>
            <a:ext cx="146196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98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92f56"/>
                </a:solidFill>
                <a:effectLst/>
                <a:uFillTx/>
                <a:latin typeface="TT Hoves Bold"/>
                <a:ea typeface="TT Hoves Bold"/>
              </a:rPr>
              <a:t>01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9"/>
          <p:cNvSpPr/>
          <p:nvPr/>
        </p:nvSpPr>
        <p:spPr>
          <a:xfrm>
            <a:off x="2138760" y="5357160"/>
            <a:ext cx="2750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88440" indent="-194400" algn="just" defTabSz="914400">
              <a:lnSpc>
                <a:spcPts val="252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T Hoves"/>
                <a:ea typeface="TT Hoves"/>
              </a:rPr>
              <a:t>Correlaciones débiles (|r| &lt; 0,3)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8440" indent="-194400" algn="just" defTabSz="914400">
              <a:lnSpc>
                <a:spcPts val="252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T Hoves"/>
                <a:ea typeface="TT Hoves"/>
              </a:rPr>
              <a:t>Baja multicolinealidad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52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0"/>
          <p:cNvSpPr/>
          <p:nvPr/>
        </p:nvSpPr>
        <p:spPr>
          <a:xfrm>
            <a:off x="2250720" y="4441680"/>
            <a:ext cx="23464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92f56"/>
                </a:solidFill>
                <a:effectLst/>
                <a:uFillTx/>
                <a:latin typeface="TT Hoves Bold"/>
                <a:ea typeface="TT Hoves Bold"/>
              </a:rPr>
              <a:t>Análisis Multivariante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1620000" y="956520"/>
            <a:ext cx="15740640" cy="73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"/>
          <p:cNvSpPr/>
          <p:nvPr/>
        </p:nvSpPr>
        <p:spPr>
          <a:xfrm>
            <a:off x="2880000" y="360000"/>
            <a:ext cx="125996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0" lang="es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Distribución por genero y grupo racial.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Freeform 1"/>
          <p:cNvSpPr/>
          <p:nvPr/>
        </p:nvSpPr>
        <p:spPr>
          <a:xfrm>
            <a:off x="244080" y="540000"/>
            <a:ext cx="3175920" cy="2029680"/>
          </a:xfrm>
          <a:custGeom>
            <a:avLst/>
            <a:gdLst>
              <a:gd name="textAreaLeft" fmla="*/ 0 w 3175920"/>
              <a:gd name="textAreaRight" fmla="*/ 3177000 w 3175920"/>
              <a:gd name="textAreaTop" fmla="*/ 0 h 2029680"/>
              <a:gd name="textAreaBottom" fmla="*/ 2030760 h 2029680"/>
            </a:gdLst>
            <a:ahLst/>
            <a:cxnLst/>
            <a:rect l="textAreaLeft" t="textAreaTop" r="textAreaRight" b="textAreaBottom"/>
            <a:pathLst>
              <a:path w="3176949" h="2030804">
                <a:moveTo>
                  <a:pt x="0" y="0"/>
                </a:moveTo>
                <a:lnTo>
                  <a:pt x="3176949" y="0"/>
                </a:lnTo>
                <a:lnTo>
                  <a:pt x="3176949" y="2030804"/>
                </a:lnTo>
                <a:lnTo>
                  <a:pt x="0" y="20308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80000" y="8280000"/>
            <a:ext cx="14760000" cy="280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.¿Como se relaciona el nivel educativo con el genero y grupo racial? Ya que el nivel educativo es una condición para obtener mayores ingresos. 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5760000" y="540000"/>
            <a:ext cx="10980000" cy="934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"/>
          <p:cNvSpPr txBox="1"/>
          <p:nvPr/>
        </p:nvSpPr>
        <p:spPr>
          <a:xfrm>
            <a:off x="900000" y="1980000"/>
            <a:ext cx="3600000" cy="426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E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Desequilibrio en la proporción entre los diferentes grupor de la muestra.</a:t>
            </a:r>
            <a:endParaRPr b="0" lang="es-E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" descr=""/>
          <p:cNvPicPr/>
          <p:nvPr/>
        </p:nvPicPr>
        <p:blipFill>
          <a:blip r:embed="rId1"/>
          <a:stretch/>
        </p:blipFill>
        <p:spPr>
          <a:xfrm>
            <a:off x="1260000" y="1114920"/>
            <a:ext cx="10620000" cy="906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"/>
          <p:cNvSpPr txBox="1"/>
          <p:nvPr/>
        </p:nvSpPr>
        <p:spPr>
          <a:xfrm>
            <a:off x="2520000" y="720000"/>
            <a:ext cx="1224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es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Nivel educativo promedio según género y grupo racial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3320000" y="2340000"/>
            <a:ext cx="3780000" cy="63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Aunque el 67% de la muestra son hombres y el 85% son blancos, el análisis revela que las brechas educativas por género varían drásticamente según la raza, con patrones opuestos entre grupos.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roup 2"/>
          <p:cNvGrpSpPr/>
          <p:nvPr/>
        </p:nvGrpSpPr>
        <p:grpSpPr>
          <a:xfrm>
            <a:off x="2511720" y="8500680"/>
            <a:ext cx="642960" cy="615960"/>
            <a:chOff x="2511720" y="8500680"/>
            <a:chExt cx="642960" cy="615960"/>
          </a:xfrm>
        </p:grpSpPr>
        <p:sp>
          <p:nvSpPr>
            <p:cNvPr id="260" name="Freeform 3"/>
            <p:cNvSpPr/>
            <p:nvPr/>
          </p:nvSpPr>
          <p:spPr>
            <a:xfrm rot="10800000">
              <a:off x="2511720" y="8500680"/>
              <a:ext cx="642960" cy="615960"/>
            </a:xfrm>
            <a:custGeom>
              <a:avLst/>
              <a:gdLst>
                <a:gd name="textAreaLeft" fmla="*/ 0 w 642960"/>
                <a:gd name="textAreaRight" fmla="*/ 644040 w 642960"/>
                <a:gd name="textAreaTop" fmla="*/ 0 h 615960"/>
                <a:gd name="textAreaBottom" fmla="*/ 617040 h 615960"/>
              </a:gdLst>
              <a:ahLst/>
              <a:cxnLst/>
              <a:rect l="textAreaLeft" t="textAreaTop" r="textAreaRight" b="textAreaBottom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b6b4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1" name="Group 4"/>
          <p:cNvGrpSpPr/>
          <p:nvPr/>
        </p:nvGrpSpPr>
        <p:grpSpPr>
          <a:xfrm>
            <a:off x="2510640" y="6179760"/>
            <a:ext cx="3524040" cy="2318760"/>
            <a:chOff x="2510640" y="6179760"/>
            <a:chExt cx="3524040" cy="2318760"/>
          </a:xfrm>
        </p:grpSpPr>
        <p:sp>
          <p:nvSpPr>
            <p:cNvPr id="262" name="Freeform 5"/>
            <p:cNvSpPr/>
            <p:nvPr/>
          </p:nvSpPr>
          <p:spPr>
            <a:xfrm>
              <a:off x="2510640" y="6469200"/>
              <a:ext cx="3524040" cy="2029320"/>
            </a:xfrm>
            <a:custGeom>
              <a:avLst/>
              <a:gdLst>
                <a:gd name="textAreaLeft" fmla="*/ 0 w 3524040"/>
                <a:gd name="textAreaRight" fmla="*/ 3525120 w 3524040"/>
                <a:gd name="textAreaTop" fmla="*/ 0 h 2029320"/>
                <a:gd name="textAreaBottom" fmla="*/ 2030400 h 2029320"/>
              </a:gdLst>
              <a:ahLst/>
              <a:cxnLst/>
              <a:rect l="textAreaLeft" t="textAreaTop" r="textAreaRight" b="textAreaBottom"/>
              <a:pathLst>
                <a:path w="928401" h="534735">
                  <a:moveTo>
                    <a:pt x="0" y="0"/>
                  </a:moveTo>
                  <a:lnTo>
                    <a:pt x="928401" y="0"/>
                  </a:lnTo>
                  <a:lnTo>
                    <a:pt x="928401" y="534735"/>
                  </a:lnTo>
                  <a:lnTo>
                    <a:pt x="0" y="534735"/>
                  </a:lnTo>
                  <a:close/>
                </a:path>
              </a:pathLst>
            </a:custGeom>
            <a:solidFill>
              <a:srgbClr val="18b6b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TextBox 6"/>
            <p:cNvSpPr/>
            <p:nvPr/>
          </p:nvSpPr>
          <p:spPr>
            <a:xfrm>
              <a:off x="2510640" y="6179760"/>
              <a:ext cx="3524040" cy="231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5598"/>
                </a:lnSpc>
              </a:pPr>
              <a:r>
                <a:rPr b="1" lang="en-US" sz="4000" spc="198" strike="noStrike" u="none">
                  <a:solidFill>
                    <a:srgbClr val="ffffff"/>
                  </a:solidFill>
                  <a:effectLst/>
                  <a:uFillTx/>
                  <a:latin typeface="Aileron Ultra-Bold"/>
                  <a:ea typeface="Aileron Ultra-Bold"/>
                </a:rPr>
                <a:t>1</a:t>
              </a:r>
              <a:endParaRPr b="0" lang="es-ES" sz="4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4" name="Group 7"/>
          <p:cNvGrpSpPr/>
          <p:nvPr/>
        </p:nvGrpSpPr>
        <p:grpSpPr>
          <a:xfrm>
            <a:off x="5443560" y="5562720"/>
            <a:ext cx="3524040" cy="2318400"/>
            <a:chOff x="5443560" y="5562720"/>
            <a:chExt cx="3524040" cy="2318400"/>
          </a:xfrm>
        </p:grpSpPr>
        <p:sp>
          <p:nvSpPr>
            <p:cNvPr id="265" name="Freeform 8"/>
            <p:cNvSpPr/>
            <p:nvPr/>
          </p:nvSpPr>
          <p:spPr>
            <a:xfrm>
              <a:off x="5443560" y="5851800"/>
              <a:ext cx="3524040" cy="2029320"/>
            </a:xfrm>
            <a:custGeom>
              <a:avLst/>
              <a:gdLst>
                <a:gd name="textAreaLeft" fmla="*/ 0 w 3524040"/>
                <a:gd name="textAreaRight" fmla="*/ 3525120 w 3524040"/>
                <a:gd name="textAreaTop" fmla="*/ 0 h 2029320"/>
                <a:gd name="textAreaBottom" fmla="*/ 2030400 h 2029320"/>
              </a:gdLst>
              <a:ahLst/>
              <a:cxnLst/>
              <a:rect l="textAreaLeft" t="textAreaTop" r="textAreaRight" b="textAreaBottom"/>
              <a:pathLst>
                <a:path w="928401" h="534735">
                  <a:moveTo>
                    <a:pt x="0" y="0"/>
                  </a:moveTo>
                  <a:lnTo>
                    <a:pt x="928401" y="0"/>
                  </a:lnTo>
                  <a:lnTo>
                    <a:pt x="928401" y="534735"/>
                  </a:lnTo>
                  <a:lnTo>
                    <a:pt x="0" y="534735"/>
                  </a:lnTo>
                  <a:close/>
                </a:path>
              </a:pathLst>
            </a:custGeom>
            <a:solidFill>
              <a:srgbClr val="37c9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TextBox 9"/>
            <p:cNvSpPr/>
            <p:nvPr/>
          </p:nvSpPr>
          <p:spPr>
            <a:xfrm>
              <a:off x="5443560" y="5562720"/>
              <a:ext cx="3524040" cy="231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5598"/>
                </a:lnSpc>
              </a:pPr>
              <a:r>
                <a:rPr b="1" lang="en-US" sz="4000" spc="198" strike="noStrike" u="none">
                  <a:solidFill>
                    <a:srgbClr val="ffffff"/>
                  </a:solidFill>
                  <a:effectLst/>
                  <a:uFillTx/>
                  <a:latin typeface="Aileron Ultra-Bold"/>
                  <a:ea typeface="Aileron Ultra-Bold"/>
                </a:rPr>
                <a:t>2</a:t>
              </a:r>
              <a:endParaRPr b="0" lang="es-ES" sz="4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7" name="Group 10"/>
          <p:cNvGrpSpPr/>
          <p:nvPr/>
        </p:nvGrpSpPr>
        <p:grpSpPr>
          <a:xfrm>
            <a:off x="8350200" y="4950720"/>
            <a:ext cx="3524040" cy="2318760"/>
            <a:chOff x="8350200" y="4950720"/>
            <a:chExt cx="3524040" cy="2318760"/>
          </a:xfrm>
        </p:grpSpPr>
        <p:sp>
          <p:nvSpPr>
            <p:cNvPr id="268" name="Freeform 11"/>
            <p:cNvSpPr/>
            <p:nvPr/>
          </p:nvSpPr>
          <p:spPr>
            <a:xfrm>
              <a:off x="8350200" y="5240160"/>
              <a:ext cx="3524040" cy="2029320"/>
            </a:xfrm>
            <a:custGeom>
              <a:avLst/>
              <a:gdLst>
                <a:gd name="textAreaLeft" fmla="*/ 0 w 3524040"/>
                <a:gd name="textAreaRight" fmla="*/ 3525120 w 3524040"/>
                <a:gd name="textAreaTop" fmla="*/ 0 h 2029320"/>
                <a:gd name="textAreaBottom" fmla="*/ 2030400 h 2029320"/>
              </a:gdLst>
              <a:ahLst/>
              <a:cxnLst/>
              <a:rect l="textAreaLeft" t="textAreaTop" r="textAreaRight" b="textAreaBottom"/>
              <a:pathLst>
                <a:path w="928401" h="534735">
                  <a:moveTo>
                    <a:pt x="0" y="0"/>
                  </a:moveTo>
                  <a:lnTo>
                    <a:pt x="928401" y="0"/>
                  </a:lnTo>
                  <a:lnTo>
                    <a:pt x="928401" y="534735"/>
                  </a:lnTo>
                  <a:lnTo>
                    <a:pt x="0" y="534735"/>
                  </a:lnTo>
                  <a:close/>
                </a:path>
              </a:pathLst>
            </a:custGeom>
            <a:solidFill>
              <a:srgbClr val="2c92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TextBox 12"/>
            <p:cNvSpPr/>
            <p:nvPr/>
          </p:nvSpPr>
          <p:spPr>
            <a:xfrm>
              <a:off x="8350200" y="4950720"/>
              <a:ext cx="3524040" cy="231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5598"/>
                </a:lnSpc>
              </a:pPr>
              <a:r>
                <a:rPr b="1" lang="en-US" sz="4000" spc="198" strike="noStrike" u="none">
                  <a:solidFill>
                    <a:srgbClr val="ffffff"/>
                  </a:solidFill>
                  <a:effectLst/>
                  <a:uFillTx/>
                  <a:latin typeface="Aileron Ultra-Bold"/>
                  <a:ea typeface="Aileron Ultra-Bold"/>
                </a:rPr>
                <a:t>3</a:t>
              </a:r>
              <a:endParaRPr b="0" lang="es-ES" sz="4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0" name="Group 13"/>
          <p:cNvGrpSpPr/>
          <p:nvPr/>
        </p:nvGrpSpPr>
        <p:grpSpPr>
          <a:xfrm>
            <a:off x="8341920" y="7266240"/>
            <a:ext cx="617040" cy="615960"/>
            <a:chOff x="8341920" y="7266240"/>
            <a:chExt cx="617040" cy="615960"/>
          </a:xfrm>
        </p:grpSpPr>
        <p:sp>
          <p:nvSpPr>
            <p:cNvPr id="271" name="Freeform 14"/>
            <p:cNvSpPr/>
            <p:nvPr/>
          </p:nvSpPr>
          <p:spPr>
            <a:xfrm rot="10800000">
              <a:off x="8341920" y="7266240"/>
              <a:ext cx="617040" cy="615960"/>
            </a:xfrm>
            <a:custGeom>
              <a:avLst/>
              <a:gdLst>
                <a:gd name="textAreaLeft" fmla="*/ 0 w 617040"/>
                <a:gd name="textAreaRight" fmla="*/ 618120 w 617040"/>
                <a:gd name="textAreaTop" fmla="*/ 0 h 615960"/>
                <a:gd name="textAreaBottom" fmla="*/ 617040 h 615960"/>
              </a:gdLst>
              <a:ahLst/>
              <a:cxnLst/>
              <a:rect l="textAreaLeft" t="textAreaTop" r="textAreaRight" b="textAreaBottom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92d5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2" name="Group 15"/>
          <p:cNvGrpSpPr/>
          <p:nvPr/>
        </p:nvGrpSpPr>
        <p:grpSpPr>
          <a:xfrm>
            <a:off x="5428080" y="7883640"/>
            <a:ext cx="617040" cy="615960"/>
            <a:chOff x="5428080" y="7883640"/>
            <a:chExt cx="617040" cy="615960"/>
          </a:xfrm>
        </p:grpSpPr>
        <p:sp>
          <p:nvSpPr>
            <p:cNvPr id="273" name="Freeform 16"/>
            <p:cNvSpPr/>
            <p:nvPr/>
          </p:nvSpPr>
          <p:spPr>
            <a:xfrm rot="10800000">
              <a:off x="5428080" y="7883640"/>
              <a:ext cx="617040" cy="615960"/>
            </a:xfrm>
            <a:custGeom>
              <a:avLst/>
              <a:gdLst>
                <a:gd name="textAreaLeft" fmla="*/ 0 w 617040"/>
                <a:gd name="textAreaRight" fmla="*/ 618120 w 617040"/>
                <a:gd name="textAreaTop" fmla="*/ 0 h 615960"/>
                <a:gd name="textAreaBottom" fmla="*/ 617040 h 615960"/>
              </a:gdLst>
              <a:ahLst/>
              <a:cxnLst/>
              <a:rect l="textAreaLeft" t="textAreaTop" r="textAreaRight" b="textAreaBottom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c9e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4" name="Group 17"/>
          <p:cNvGrpSpPr/>
          <p:nvPr/>
        </p:nvGrpSpPr>
        <p:grpSpPr>
          <a:xfrm>
            <a:off x="11251440" y="3574440"/>
            <a:ext cx="4524840" cy="4019400"/>
            <a:chOff x="11251440" y="3574440"/>
            <a:chExt cx="4524840" cy="4019400"/>
          </a:xfrm>
        </p:grpSpPr>
        <p:sp>
          <p:nvSpPr>
            <p:cNvPr id="275" name="Freeform 18"/>
            <p:cNvSpPr/>
            <p:nvPr/>
          </p:nvSpPr>
          <p:spPr>
            <a:xfrm>
              <a:off x="11251440" y="3574440"/>
              <a:ext cx="4524840" cy="4019400"/>
            </a:xfrm>
            <a:custGeom>
              <a:avLst/>
              <a:gdLst>
                <a:gd name="textAreaLeft" fmla="*/ 0 w 4524840"/>
                <a:gd name="textAreaRight" fmla="*/ 4525920 w 4524840"/>
                <a:gd name="textAreaTop" fmla="*/ 0 h 4019400"/>
                <a:gd name="textAreaBottom" fmla="*/ 4020480 h 4019400"/>
              </a:gdLst>
              <a:ahLst/>
              <a:cxnLst/>
              <a:rect l="textAreaLeft" t="textAreaTop" r="textAreaRight" b="textAreaBottom"/>
              <a:pathLst>
                <a:path w="977479" h="868343">
                  <a:moveTo>
                    <a:pt x="977479" y="434171"/>
                  </a:moveTo>
                  <a:lnTo>
                    <a:pt x="571079" y="0"/>
                  </a:lnTo>
                  <a:lnTo>
                    <a:pt x="571079" y="203200"/>
                  </a:lnTo>
                  <a:lnTo>
                    <a:pt x="0" y="203200"/>
                  </a:lnTo>
                  <a:lnTo>
                    <a:pt x="0" y="665143"/>
                  </a:lnTo>
                  <a:lnTo>
                    <a:pt x="571079" y="665143"/>
                  </a:lnTo>
                  <a:lnTo>
                    <a:pt x="571079" y="868343"/>
                  </a:lnTo>
                  <a:lnTo>
                    <a:pt x="977479" y="434171"/>
                  </a:lnTo>
                  <a:close/>
                </a:path>
              </a:pathLst>
            </a:custGeom>
            <a:solidFill>
              <a:srgbClr val="1353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TextBox 19"/>
            <p:cNvSpPr/>
            <p:nvPr/>
          </p:nvSpPr>
          <p:spPr>
            <a:xfrm>
              <a:off x="11251440" y="4162680"/>
              <a:ext cx="4054320" cy="249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5598"/>
                </a:lnSpc>
              </a:pPr>
              <a:r>
                <a:rPr b="1" lang="en-US" sz="4000" spc="198" strike="noStrike" u="none">
                  <a:solidFill>
                    <a:srgbClr val="ffffff"/>
                  </a:solidFill>
                  <a:effectLst/>
                  <a:uFillTx/>
                  <a:latin typeface="Aileron Ultra-Bold"/>
                  <a:ea typeface="Aileron Ultra-Bold"/>
                </a:rPr>
                <a:t>4</a:t>
              </a:r>
              <a:endParaRPr b="0" lang="es-ES" sz="4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7" name="Group 20"/>
          <p:cNvGrpSpPr/>
          <p:nvPr/>
        </p:nvGrpSpPr>
        <p:grpSpPr>
          <a:xfrm>
            <a:off x="11243160" y="6649200"/>
            <a:ext cx="617040" cy="615960"/>
            <a:chOff x="11243160" y="6649200"/>
            <a:chExt cx="617040" cy="615960"/>
          </a:xfrm>
        </p:grpSpPr>
        <p:sp>
          <p:nvSpPr>
            <p:cNvPr id="278" name="Freeform 21"/>
            <p:cNvSpPr/>
            <p:nvPr/>
          </p:nvSpPr>
          <p:spPr>
            <a:xfrm rot="10800000">
              <a:off x="11243160" y="6649200"/>
              <a:ext cx="617040" cy="615960"/>
            </a:xfrm>
            <a:custGeom>
              <a:avLst/>
              <a:gdLst>
                <a:gd name="textAreaLeft" fmla="*/ 0 w 617040"/>
                <a:gd name="textAreaRight" fmla="*/ 618120 w 617040"/>
                <a:gd name="textAreaTop" fmla="*/ 0 h 615960"/>
                <a:gd name="textAreaBottom" fmla="*/ 617040 h 615960"/>
              </a:gdLst>
              <a:ahLst/>
              <a:cxnLst/>
              <a:rect l="textAreaLeft" t="textAreaTop" r="textAreaRight" b="textAreaBottom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538a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9" name="TextBox 22"/>
          <p:cNvSpPr/>
          <p:nvPr/>
        </p:nvSpPr>
        <p:spPr>
          <a:xfrm>
            <a:off x="2977560" y="4677120"/>
            <a:ext cx="2271240" cy="13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40"/>
              </a:lnSpc>
              <a:tabLst>
                <a:tab algn="l" pos="0"/>
              </a:tabLst>
            </a:pPr>
            <a:r>
              <a:rPr b="0" lang="en-US" sz="2600" spc="79" strike="noStrike" u="none">
                <a:solidFill>
                  <a:srgbClr val="191919"/>
                </a:solidFill>
                <a:effectLst/>
                <a:uFillTx/>
                <a:latin typeface="Aileron"/>
                <a:ea typeface="Aileron"/>
              </a:rPr>
              <a:t>Educación, el factor más influyente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3"/>
          <p:cNvSpPr/>
          <p:nvPr/>
        </p:nvSpPr>
        <p:spPr>
          <a:xfrm>
            <a:off x="5940000" y="3600000"/>
            <a:ext cx="2287800" cy="18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40"/>
              </a:lnSpc>
              <a:tabLst>
                <a:tab algn="l" pos="0"/>
              </a:tabLst>
            </a:pPr>
            <a:r>
              <a:rPr b="0" lang="en-US" sz="2600" spc="79" strike="noStrike" u="none">
                <a:solidFill>
                  <a:srgbClr val="191919"/>
                </a:solidFill>
                <a:effectLst/>
                <a:uFillTx/>
                <a:latin typeface="Aileron"/>
                <a:ea typeface="Aileron"/>
              </a:rPr>
              <a:t>Los factores demográficos también influyen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4"/>
          <p:cNvSpPr/>
          <p:nvPr/>
        </p:nvSpPr>
        <p:spPr>
          <a:xfrm>
            <a:off x="8911800" y="3187800"/>
            <a:ext cx="1886760" cy="13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40"/>
              </a:lnSpc>
              <a:tabLst>
                <a:tab algn="l" pos="0"/>
              </a:tabLst>
            </a:pPr>
            <a:r>
              <a:rPr b="0" lang="en-US" sz="2600" spc="79" strike="noStrike" u="none">
                <a:solidFill>
                  <a:srgbClr val="191919"/>
                </a:solidFill>
                <a:effectLst/>
                <a:uFillTx/>
                <a:latin typeface="Aileron"/>
                <a:ea typeface="Aileron"/>
              </a:rPr>
              <a:t>Evidencia estadística clara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5"/>
          <p:cNvSpPr/>
          <p:nvPr/>
        </p:nvSpPr>
        <p:spPr>
          <a:xfrm>
            <a:off x="11713320" y="2129040"/>
            <a:ext cx="2181960" cy="18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40"/>
              </a:lnSpc>
              <a:tabLst>
                <a:tab algn="l" pos="0"/>
              </a:tabLst>
            </a:pPr>
            <a:r>
              <a:rPr b="0" lang="en-US" sz="2600" spc="79" strike="noStrike" u="none">
                <a:solidFill>
                  <a:srgbClr val="191919"/>
                </a:solidFill>
                <a:effectLst/>
                <a:uFillTx/>
                <a:latin typeface="Aileron"/>
                <a:ea typeface="Aileron"/>
              </a:rPr>
              <a:t>Ingresos = combinación de varios factores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3" name="Group 26"/>
          <p:cNvGrpSpPr/>
          <p:nvPr/>
        </p:nvGrpSpPr>
        <p:grpSpPr>
          <a:xfrm>
            <a:off x="3549960" y="1199160"/>
            <a:ext cx="11186640" cy="1074600"/>
            <a:chOff x="3549960" y="1199160"/>
            <a:chExt cx="11186640" cy="1074600"/>
          </a:xfrm>
        </p:grpSpPr>
        <p:sp>
          <p:nvSpPr>
            <p:cNvPr id="284" name="TextBox 27"/>
            <p:cNvSpPr/>
            <p:nvPr/>
          </p:nvSpPr>
          <p:spPr>
            <a:xfrm>
              <a:off x="3549960" y="1840680"/>
              <a:ext cx="11186640" cy="43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640"/>
                </a:lnSpc>
                <a:tabLst>
                  <a:tab algn="l" pos="0"/>
                </a:tabLst>
              </a:pPr>
              <a:r>
                <a:rPr b="0" lang="en-US" sz="2600" spc="79" strike="noStrike" u="none">
                  <a:solidFill>
                    <a:srgbClr val="191919"/>
                  </a:solidFill>
                  <a:effectLst/>
                  <a:uFillTx/>
                  <a:latin typeface="Aileron"/>
                  <a:ea typeface="Aileron"/>
                </a:rPr>
                <a:t>EDA</a:t>
              </a:r>
              <a:endParaRPr b="0" lang="es-E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TextBox 28"/>
            <p:cNvSpPr/>
            <p:nvPr/>
          </p:nvSpPr>
          <p:spPr>
            <a:xfrm>
              <a:off x="3549960" y="1199160"/>
              <a:ext cx="11186640" cy="57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4717"/>
                </a:lnSpc>
                <a:tabLst>
                  <a:tab algn="l" pos="0"/>
                </a:tabLst>
              </a:pPr>
              <a:r>
                <a:rPr b="1" lang="en-US" sz="3600" spc="108" strike="noStrike" u="none">
                  <a:solidFill>
                    <a:srgbClr val="191919"/>
                  </a:solidFill>
                  <a:effectLst/>
                  <a:uFillTx/>
                  <a:latin typeface="Aileron Ultra-Bold"/>
                  <a:ea typeface="Aileron Ultra-Bold"/>
                </a:rPr>
                <a:t>CONCLUSIONES</a:t>
              </a:r>
              <a:endParaRPr b="0" lang="es-ES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Application>LibreOffice/25.8.3.2$Windows_X86_64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DAG9cSvI2eE</dc:identifier>
  <dc:language>es-ES</dc:language>
  <cp:lastModifiedBy/>
  <dcterms:modified xsi:type="dcterms:W3CDTF">2026-01-08T19:19:26Z</dcterms:modified>
  <cp:revision>12</cp:revision>
  <dc:subject/>
  <dc:title>ANÁLISIS EXPLORATORIO DE DATOS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